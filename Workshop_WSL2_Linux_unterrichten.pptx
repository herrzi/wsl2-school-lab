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Ein Satz zur eigenen Person und Schule. Versprechen des Workshops formulieren: 'In 60 Minuten haben Sie selbst in einer Linux-Shell gearbeitet und wissen, wie Sie Linux in Ihren Windows-Computerraum bringen – ohne einen einzigen Rechner neu aufzusetzen.'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Blitzumfrage per Handzeichen durchführen: 1) Wer unterrichtet Linux-Inhalte oder müsste es laut Lehrplan? 2) Wer hat dafür geeignete Linux-Rechner? Die sichtbare Lücke zwischen beiden Handzeichen ist die Begründung des Workshops – darauf explizit hinweisen.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halten – maximal eine Minute. Wichtigste Botschaft: 'Sie schauen nicht nur zu – die Hälfte der Zeit arbeiten Sie selbst in einer Linux-Shell, direkt im Browser, ohne irgendetwas zu installieren.'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JETZT LIVE-DEMO STARTEN. Ablauf: 1) PowerShell als Admin zeigen, 'wsl --install' eintippen (wenn bereits installiert: den Befehl zeigen und erklären, dann direkt Ubuntu starten). 2) Ubuntu öffnen, 'uname -r' – der Kernel-Name mit 'microsoft' beweist: echtes Linux. 3) Abgrenzung zu Git Bash in einem Satz: dort gibt es kein apt, keine echten Prozesse, keine echten Rechte. SICHERHEITSNETZ: Screenshot-Serie/Video der Installation liegt bereit, falls WLAN oder Gerät streikt.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Beide Befehle live zeigen – das sind die beiden Momente, in denen erfahrungsgemäß die Stifte gezückt werden. Erst /mnt/c: eine Datei vom Windows-Desktop aus Linux heraus anzeigen (cat). Dann explorer.exe . – der 'Aha'-Moment, wenn der Explorer aufgeht. Kurz \\wsl$ in der Adresszeile erwähnen.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ist DIE Folie für die Schulleitung/IT-Abteilung. Kernbotschaft: Der Pflegeaufwand, der Linux-Räume bisher verhindert hat, verschwindet – eine tar-Datei ersetzt das Neuaufsetzen. Praxis-Tipp nennen: Standardbenutzer vor dem Export in /etc/wsl.conf festlegen, sonst startet die importierte Instanz als root. Details stehen im Handout – hier nicht vertiefen.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Folie nimmt die Einwände vorweg, bevor sie aus dem Publikum kommen – das schafft Glaubwürdigkeit. Zwischenfragen hier kurz zulassen, aber Detaildiskussionen (einzelne Schulträger-Policies) aufs Handout und die Pause verweisen. Überleitung: 'Und falls all das bei Ihnen zutrifft – es gibt einen Weg ganz ohne Installation. Den nehmen wir jetzt.'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CHECKPOINT-FOLIE – hier nicht weitergehen, bevor jedes Team einen Prompt hat. QR-Code vorher einfügen (Platzhalter rechts). Sandbox vorab mit frischem Account/Gerät getestet? Zeitlimits der Plattform beachten (Killercoda: ~60 Min pro Session – reicht genau). Wer mit eigenem WSL2 arbeiten will: gern, gleiche Aufgaben. Arbeitsblätter jetzt austeilen.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Folie stehen lassen und herumgehen – nicht vorne bleiben. Typische Hänger: Tippfehler (auf Tab-Vervollständigung verweisen), Groß-/Kleinschreibung, 'q' zum Verlassen von man. Nicht selbst tippen – höchstens den Partner tippen lassen. Nach ~10 Minuten Zwischenstand abfragen, nach 12 Minuten Aufgabe 4 und 6 kurz am Beamer auflösen.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 Konzept-Folie (max. 2 Minuten), bevor die Challenge startet. Das Fließband einmal laut von links nach rechts vorlesen: filtere – schneide – sortiere – zähle. Betonen: sort muss vor uniq stehen, weil uniq nur Nachbarn vergleicht – das wird gleich der häufigste Fehler sein.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Challenge starten, wieder herumgehen. Differenzierung läuft von selbst: Schwächere schaffen grep + wc, Stärkere bauen die volle Kette. Häufigster Fehler: falsche Feldnummer bei cut – bewusst NICHT sofort helfen, das Fehlerbild ist lehrreich. Auflösung nach ~10 Min live am Beamer: Einzeiler tippen, Ergebnis zeigen (203.0.113.42 mit 28 Versuchen), dann die Kette Wort für Wort vorlesen lassen. Lösungsblatt liegt bereit.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Bogen: Was die Lehrer heute in der Sandbox erlebt haben, ist exakt die Schülerperspektive – die Demo hat gezeigt, wie sie diese Situation im eigenen Raum herstellen. Murmelrunde starten, danach 2–3 Stimmen einsammeln (verschiedene Berufe abfragen: FISI, FIAE, ITSE, kaufmännische IT-Berufe). LPI-Themen nennen: 103.1, 103.2, 103.4 waren die heutige Basis; 104.5 Dateirechte der logische nächste Schritt.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Exit-Ticket mündlich oder per Zettel/Padlet: 'Eine Sache, die ich nächste Woche ausprobiere.' 2–3 Antworten laut vorlesen lassen – das verankert Verbindlichkeit. Zum Schluss: Kontaktdaten nennen, Materiallink zeigen, für Fragen im Anschluss verfügbar bleiben. Danke!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0" y="1143000"/>
            <a:ext cx="3520440" cy="2834640"/>
          </a:xfrm>
          <a:prstGeom prst="roundRect">
            <a:avLst>
              <a:gd name="adj" fmla="val 1935"/>
            </a:avLst>
          </a:prstGeom>
          <a:solidFill>
            <a:srgbClr val="1C242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248656" y="1252728"/>
            <a:ext cx="100584" cy="100584"/>
          </a:xfrm>
          <a:prstGeom prst="ellipse">
            <a:avLst/>
          </a:prstGeom>
          <a:solidFill>
            <a:srgbClr val="E9645A"/>
          </a:solidFill>
          <a:ln/>
        </p:spPr>
      </p:sp>
      <p:sp>
        <p:nvSpPr>
          <p:cNvPr id="4" name="Shape 2"/>
          <p:cNvSpPr/>
          <p:nvPr/>
        </p:nvSpPr>
        <p:spPr>
          <a:xfrm>
            <a:off x="5431536" y="1252728"/>
            <a:ext cx="100584" cy="100584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5" name="Shape 3"/>
          <p:cNvSpPr/>
          <p:nvPr/>
        </p:nvSpPr>
        <p:spPr>
          <a:xfrm>
            <a:off x="5614416" y="1252728"/>
            <a:ext cx="100584" cy="100584"/>
          </a:xfrm>
          <a:prstGeom prst="ellipse">
            <a:avLst/>
          </a:prstGeom>
          <a:solidFill>
            <a:srgbClr val="5ECC71"/>
          </a:solidFill>
          <a:ln/>
        </p:spPr>
      </p:sp>
      <p:sp>
        <p:nvSpPr>
          <p:cNvPr id="6" name="Text 4"/>
          <p:cNvSpPr/>
          <p:nvPr/>
        </p:nvSpPr>
        <p:spPr>
          <a:xfrm>
            <a:off x="5285232" y="1453896"/>
            <a:ext cx="319125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9AA7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C:\&gt; wsl --install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9AA7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Ubuntu wird installiert ...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zi@srv-schule01:~$ _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85800"/>
            <a:ext cx="594360" cy="594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150876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unterrichten – auf Windows-Rechnern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502920" y="28803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5C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WSL2 im Schulkontext: Ein Weg für alle IT-Berufe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02920" y="44348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Regionaler Akademietag der Cisco Networking Academy · 60 Minuten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 · MINUTE 0–5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Dilemma jedes IT-Bildungsgangs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EAF4EF"/>
          </a:solidFill>
          <a:ln/>
        </p:spPr>
      </p:sp>
      <p:sp>
        <p:nvSpPr>
          <p:cNvPr id="5" name="Shape 3"/>
          <p:cNvSpPr/>
          <p:nvPr/>
        </p:nvSpPr>
        <p:spPr>
          <a:xfrm>
            <a:off x="758952" y="178308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9019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8952" y="248716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Lehrpläne verlangen Linux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58952" y="2852928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Server, Cloud, Container, Netzwerktechnik, Abschlussprüfungen – überall Linux-Kommandozeile. Quer durch alle IT-Berufe.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27448" y="150876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EA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4983480" y="178308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901952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983480" y="248716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Schule hat Windows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983480" y="2852928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Computerräume, Dienstgeräte, Softwareverteilung: Windows 10/11. Dual-Boot und eigene Linux-Räume sind Pflegemonster.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02920" y="397764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Blitzumfrage: </a:t>
            </a:r>
            <a:pPr indent="0" marL="0">
              <a:buNone/>
            </a:pPr>
            <a:r>
              <a:rPr lang="en-US" sz="1400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hat Linux-Inhalte im Lehrplan? Und wer hat dafür Linux-Rechner im Klassenraum? – Die Lücke dazwischen schließen wir heute.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Minuten, drei Stationen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5C8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554480" y="152704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Sehen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554480" y="1911096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WSL2 auf einem echten Windows-Rechner – vom Install-Befehl bis zum Klassen-Image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52360" y="15544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505456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5C8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554480" y="255117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Selbst machen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54480" y="293522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in der Browser-Sandbox: Kommandozeilen-Rallye und der Server-Krimi mit Pipes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452360" y="25786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3529584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5C8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1554480" y="357530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Mitnehmen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54480" y="395935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in Ihren Unterricht: LPI-Materialien, Einsatzszenarien, Handout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452360" y="36027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MINUTE 5–20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WSL2: Ein echtes Linux, kein Imitat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92040" y="1417320"/>
            <a:ext cx="3749040" cy="3063240"/>
          </a:xfrm>
          <a:prstGeom prst="roundRect">
            <a:avLst>
              <a:gd name="adj" fmla="val 1791"/>
            </a:avLst>
          </a:prstGeom>
          <a:solidFill>
            <a:srgbClr val="1C242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0056" y="1527048"/>
            <a:ext cx="100584" cy="100584"/>
          </a:xfrm>
          <a:prstGeom prst="ellipse">
            <a:avLst/>
          </a:prstGeom>
          <a:solidFill>
            <a:srgbClr val="E9645A"/>
          </a:solidFill>
          <a:ln/>
        </p:spPr>
      </p:sp>
      <p:sp>
        <p:nvSpPr>
          <p:cNvPr id="6" name="Shape 4"/>
          <p:cNvSpPr/>
          <p:nvPr/>
        </p:nvSpPr>
        <p:spPr>
          <a:xfrm>
            <a:off x="5202936" y="1527048"/>
            <a:ext cx="100584" cy="100584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7" name="Shape 5"/>
          <p:cNvSpPr/>
          <p:nvPr/>
        </p:nvSpPr>
        <p:spPr>
          <a:xfrm>
            <a:off x="5385816" y="1527048"/>
            <a:ext cx="100584" cy="100584"/>
          </a:xfrm>
          <a:prstGeom prst="ellipse">
            <a:avLst/>
          </a:prstGeom>
          <a:solidFill>
            <a:srgbClr val="5ECC71"/>
          </a:solidFill>
          <a:ln/>
        </p:spPr>
      </p:sp>
      <p:sp>
        <p:nvSpPr>
          <p:cNvPr id="8" name="Text 6"/>
          <p:cNvSpPr/>
          <p:nvPr/>
        </p:nvSpPr>
        <p:spPr>
          <a:xfrm>
            <a:off x="5056632" y="1728216"/>
            <a:ext cx="341985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9AA7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C:\&gt; wsl --install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9AA7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Installation: Ubuntu ...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9AA7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Neustart erforderlich.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zi@PC:~$ uname -r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D7E1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6.6.87-microsoft-standard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b="1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zi@PC:~$ _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128016" cy="128016"/>
          </a:xfrm>
          <a:prstGeom prst="ellipse">
            <a:avLst/>
          </a:prstGeom>
          <a:solidFill>
            <a:srgbClr val="35C88E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4813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Vollwertige, leichtgewichtige VM  </a:t>
            </a:r>
            <a:pPr indent="0" marL="0">
              <a:buNone/>
            </a:pPr>
            <a:r>
              <a:rPr lang="en-US" sz="125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echtem Linux-Kernel – kein Emulator, keine Nachbildung wie Git Bash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267712"/>
            <a:ext cx="128016" cy="128016"/>
          </a:xfrm>
          <a:prstGeom prst="ellipse">
            <a:avLst/>
          </a:prstGeom>
          <a:solidFill>
            <a:srgbClr val="35C88E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2402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Befehl, eine Kaffeepause  </a:t>
            </a:r>
            <a:pPr indent="0" marL="0">
              <a:buNone/>
            </a:pPr>
            <a:r>
              <a:rPr lang="en-US" sz="125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wsl --install richtet alles ein, inklusive Ubuntu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026664"/>
            <a:ext cx="128016" cy="128016"/>
          </a:xfrm>
          <a:prstGeom prst="ellipse">
            <a:avLst/>
          </a:prstGeom>
          <a:solidFill>
            <a:srgbClr val="35C88E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99923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Startet in Sekunden  </a:t>
            </a:r>
            <a:pPr indent="0" marL="0">
              <a:buNone/>
            </a:pPr>
            <a:r>
              <a:rPr lang="en-US" sz="125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fühlt sich an wie ein normales Programm, nicht wie eine virtuelle Maschine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785616"/>
            <a:ext cx="128016" cy="128016"/>
          </a:xfrm>
          <a:prstGeom prst="ellipse">
            <a:avLst/>
          </a:prstGeom>
          <a:solidFill>
            <a:srgbClr val="35C88E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758184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Kostenlos &amp; offiziell  </a:t>
            </a:r>
            <a:pPr indent="0" marL="0">
              <a:buNone/>
            </a:pPr>
            <a:r>
              <a:rPr lang="en-US" sz="125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Bestandteil von Windows 10 (ab 2004) und Windows 11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LIVE AM BEAMER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Welten, eine Maschine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13632" cy="2514600"/>
          </a:xfrm>
          <a:prstGeom prst="roundRect">
            <a:avLst>
              <a:gd name="adj" fmla="val 2909"/>
            </a:avLst>
          </a:prstGeom>
          <a:solidFill>
            <a:srgbClr val="EAF4EF"/>
          </a:solidFill>
          <a:ln/>
        </p:spPr>
      </p:sp>
      <p:sp>
        <p:nvSpPr>
          <p:cNvPr id="5" name="Shape 3"/>
          <p:cNvSpPr/>
          <p:nvPr/>
        </p:nvSpPr>
        <p:spPr>
          <a:xfrm>
            <a:off x="758952" y="1719072"/>
            <a:ext cx="530352" cy="53035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5608" y="18105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→ Linux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58952" y="2395728"/>
            <a:ext cx="3401568" cy="457200"/>
          </a:xfrm>
          <a:prstGeom prst="roundRect">
            <a:avLst>
              <a:gd name="adj" fmla="val 10000"/>
            </a:avLst>
          </a:prstGeom>
          <a:solidFill>
            <a:srgbClr val="1C242E"/>
          </a:solidFill>
          <a:ln/>
        </p:spPr>
      </p:sp>
      <p:sp>
        <p:nvSpPr>
          <p:cNvPr id="9" name="Text 6"/>
          <p:cNvSpPr/>
          <p:nvPr/>
        </p:nvSpPr>
        <p:spPr>
          <a:xfrm>
            <a:off x="896112" y="23957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/mnt/c/Users/zi/Desktop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58952" y="299923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Windows-Laufwerke sind im Linux-Dateibaum eingehängt – Unterrichtsmaterial liegt sofort bereit.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27448" y="1463040"/>
            <a:ext cx="3913632" cy="2514600"/>
          </a:xfrm>
          <a:prstGeom prst="roundRect">
            <a:avLst>
              <a:gd name="adj" fmla="val 2909"/>
            </a:avLst>
          </a:prstGeom>
          <a:solidFill>
            <a:srgbClr val="EA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983480" y="1719072"/>
            <a:ext cx="530352" cy="53035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837944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60136" y="18105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→ Windows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4983480" y="2395728"/>
            <a:ext cx="3401568" cy="457200"/>
          </a:xfrm>
          <a:prstGeom prst="roundRect">
            <a:avLst>
              <a:gd name="adj" fmla="val 10000"/>
            </a:avLst>
          </a:prstGeom>
          <a:solidFill>
            <a:srgbClr val="1C242E"/>
          </a:solidFill>
          <a:ln/>
        </p:spPr>
      </p:sp>
      <p:sp>
        <p:nvSpPr>
          <p:cNvPr id="16" name="Text 12"/>
          <p:cNvSpPr/>
          <p:nvPr/>
        </p:nvSpPr>
        <p:spPr>
          <a:xfrm>
            <a:off x="5120640" y="23957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explorer.exe 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4983480" y="299923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Öffnet das aktuelle Linux-Verzeichnis im Windows-Explorer. Auch VS Code verbindet sich direkt in die Distribution.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02920" y="4206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den Unterricht heißt das: </a:t>
            </a:r>
            <a:pPr indent="0" marL="0">
              <a:buNone/>
            </a:pPr>
            <a:r>
              <a:rPr lang="en-US" sz="1400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Datei-Hin-und-Her, kein zweiter Rechner, keine Grenze zwischen Arbeitsblatt (Windows) und Übung (Linux).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DAS SCHUL-ARGUMENT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Klassen-Image: 1 Umgebung, 30 Rechner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1600200"/>
          </a:xfrm>
          <a:prstGeom prst="roundRect">
            <a:avLst>
              <a:gd name="adj" fmla="val 3429"/>
            </a:avLst>
          </a:prstGeom>
          <a:solidFill>
            <a:srgbClr val="1C242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30936" y="1572768"/>
            <a:ext cx="100584" cy="100584"/>
          </a:xfrm>
          <a:prstGeom prst="ellipse">
            <a:avLst/>
          </a:prstGeom>
          <a:solidFill>
            <a:srgbClr val="E9645A"/>
          </a:solidFill>
          <a:ln/>
        </p:spPr>
      </p:sp>
      <p:sp>
        <p:nvSpPr>
          <p:cNvPr id="6" name="Shape 4"/>
          <p:cNvSpPr/>
          <p:nvPr/>
        </p:nvSpPr>
        <p:spPr>
          <a:xfrm>
            <a:off x="813816" y="1572768"/>
            <a:ext cx="100584" cy="100584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7" name="Shape 5"/>
          <p:cNvSpPr/>
          <p:nvPr/>
        </p:nvSpPr>
        <p:spPr>
          <a:xfrm>
            <a:off x="996696" y="1572768"/>
            <a:ext cx="100584" cy="100584"/>
          </a:xfrm>
          <a:prstGeom prst="ellipse">
            <a:avLst/>
          </a:prstGeom>
          <a:solidFill>
            <a:srgbClr val="5ECC71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" y="1773936"/>
            <a:ext cx="780897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8A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 Lehrer-PC: Muster-Instanz einfrieren</a:t>
            </a:r>
            <a:endParaRPr lang="en-US" sz="1300" dirty="0"/>
          </a:p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wsl --export Ubuntu C:\Images\fisi-uebung.tar</a:t>
            </a:r>
            <a:endParaRPr lang="en-US" sz="1300" dirty="0"/>
          </a:p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8A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 Schüler-PC: identisch ausrollen</a:t>
            </a:r>
            <a:endParaRPr lang="en-US" sz="1300" dirty="0"/>
          </a:p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wsl --import FISI-Uebung C:\WSL\fisi C:\Images\fisi-uebung.tar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3310128"/>
            <a:ext cx="457200" cy="457200"/>
          </a:xfrm>
          <a:prstGeom prst="ellipse">
            <a:avLst/>
          </a:prstGeom>
          <a:solidFill>
            <a:srgbClr val="EAF4EF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3410712"/>
            <a:ext cx="256032" cy="25603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388620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 vorbereiten: Benutzer, Pakete, Übungsdateien, Startzustand der Lernsituation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300984" y="3310128"/>
            <a:ext cx="457200" cy="457200"/>
          </a:xfrm>
          <a:prstGeom prst="ellipse">
            <a:avLst/>
          </a:prstGeom>
          <a:solidFill>
            <a:srgbClr val="EAF4E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3410712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00984" y="388620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eine Datei verteilen: Netzlaufwerk, USB oder Softwareverteilung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099048" y="3310128"/>
            <a:ext cx="457200" cy="457200"/>
          </a:xfrm>
          <a:prstGeom prst="ellipse">
            <a:avLst/>
          </a:prstGeom>
          <a:solidFill>
            <a:srgbClr val="EAF4E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3410712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099048" y="388620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der Stunde: Instanz verwerfen, nächstes Mal frisch importieren – immer identischer Zustand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EHRLICHKEIT MUSS SEIN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typischen Stolperstellen an Schulen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13632" cy="1207008"/>
          </a:xfrm>
          <a:prstGeom prst="roundRect">
            <a:avLst>
              <a:gd name="adj" fmla="val 5303"/>
            </a:avLst>
          </a:prstGeom>
          <a:solidFill>
            <a:srgbClr val="FBF6E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6459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4712" y="159105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Admin-Rechte auf Dienstgeräten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124712" y="19568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läuft über IT-Administration / Softwareverteilung – das Klassen-Image ist Ihr Argument.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27448" y="1463040"/>
            <a:ext cx="3913632" cy="1207008"/>
          </a:xfrm>
          <a:prstGeom prst="roundRect">
            <a:avLst>
              <a:gd name="adj" fmla="val 5303"/>
            </a:avLst>
          </a:prstGeom>
          <a:solidFill>
            <a:srgbClr val="FBF6E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164592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49240" y="159105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Virtualisierung im BIOS deaktiviert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349240" y="19568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VT-x / AMD-V muss aktiv sein; Fehlermeldung erscheint erst beim ersten Start.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02920" y="2834640"/>
            <a:ext cx="3913632" cy="1207008"/>
          </a:xfrm>
          <a:prstGeom prst="roundRect">
            <a:avLst>
              <a:gd name="adj" fmla="val 5303"/>
            </a:avLst>
          </a:prstGeom>
          <a:solidFill>
            <a:srgbClr val="FB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01752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24712" y="296265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Gruppenrichtlinien &amp; AppLocker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1124712" y="33284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Manche Schulträger blockieren optionale Windows-Features – früh mit dem Dienstleister klären.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727448" y="2834640"/>
            <a:ext cx="3913632" cy="1207008"/>
          </a:xfrm>
          <a:prstGeom prst="roundRect">
            <a:avLst>
              <a:gd name="adj" fmla="val 5303"/>
            </a:avLst>
          </a:prstGeom>
          <a:solidFill>
            <a:srgbClr val="FB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616" y="30175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49240" y="296265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10 ohne Support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5349240" y="3328416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WSL2 läuft dort weiter, aber seit Okt. 2025 keine Sicherheitsupdates – Windows 11 einplanen.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502920" y="43434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 existiert immer: </a:t>
            </a:r>
            <a:pPr indent="0" marL="0">
              <a:buNone/>
            </a:pPr>
            <a:r>
              <a:rPr lang="en-US" sz="1400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Browser-Sandboxes ohne jede Installation – gleich arbeiten Sie selbst darin.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37160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Sie.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502920" y="22402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5C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im Browser – ohne Installation, ohne Anmeldung am eigenen System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566928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5C8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078992" y="2962656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7E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QR-Code scannen oder Link vom Beamer öffnen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5C8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78992" y="3529584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7E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Warten, bis der Prompt erscheint: $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66928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5C8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78992" y="409651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7E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zweit an ein Gerät: eine Person tippt, eine liest vor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720840" y="2697480"/>
            <a:ext cx="19202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6720840" y="2697480"/>
            <a:ext cx="19202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QR-Code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Sandbox-Link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I · MINUTE 25–37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Mini-Rallye: Orientierung im Dateisystem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0" y="1417320"/>
            <a:ext cx="3611880" cy="2651760"/>
          </a:xfrm>
          <a:prstGeom prst="roundRect">
            <a:avLst>
              <a:gd name="adj" fmla="val 2069"/>
            </a:avLst>
          </a:prstGeom>
          <a:solidFill>
            <a:srgbClr val="1C242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157216" y="1527048"/>
            <a:ext cx="100584" cy="100584"/>
          </a:xfrm>
          <a:prstGeom prst="ellipse">
            <a:avLst/>
          </a:prstGeom>
          <a:solidFill>
            <a:srgbClr val="E9645A"/>
          </a:solidFill>
          <a:ln/>
        </p:spPr>
      </p:sp>
      <p:sp>
        <p:nvSpPr>
          <p:cNvPr id="6" name="Shape 4"/>
          <p:cNvSpPr/>
          <p:nvPr/>
        </p:nvSpPr>
        <p:spPr>
          <a:xfrm>
            <a:off x="5340096" y="1527048"/>
            <a:ext cx="100584" cy="100584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7" name="Shape 5"/>
          <p:cNvSpPr/>
          <p:nvPr/>
        </p:nvSpPr>
        <p:spPr>
          <a:xfrm>
            <a:off x="5522976" y="1527048"/>
            <a:ext cx="100584" cy="100584"/>
          </a:xfrm>
          <a:prstGeom prst="ellipse">
            <a:avLst/>
          </a:prstGeom>
          <a:solidFill>
            <a:srgbClr val="5ECC71"/>
          </a:solidFill>
          <a:ln/>
        </p:spPr>
      </p:sp>
      <p:sp>
        <p:nvSpPr>
          <p:cNvPr id="8" name="Text 6"/>
          <p:cNvSpPr/>
          <p:nvPr/>
        </p:nvSpPr>
        <p:spPr>
          <a:xfrm>
            <a:off x="5193792" y="1728216"/>
            <a:ext cx="328269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pwd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D7E1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/home/zi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mkdir -p workshop/logs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cd workshop/logs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man ls</a:t>
            </a:r>
            <a:endParaRPr lang="en-US" sz="1250" dirty="0"/>
          </a:p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9AA7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-t  sort by time ...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1581912"/>
            <a:ext cx="128016" cy="128016"/>
          </a:xfrm>
          <a:prstGeom prst="ellipse">
            <a:avLst/>
          </a:prstGeom>
          <a:solidFill>
            <a:srgbClr val="35C88E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5544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Aufgaben auf dem Arbeitsblatt  –  </a:t>
            </a:r>
            <a:pPr indent="0" marL="0">
              <a:buNone/>
            </a:pPr>
            <a:r>
              <a:rPr lang="en-US" sz="13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bin ich, was liegt hier, Ordner bauen, Datei umbenennen, Handbuch lesen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478024"/>
            <a:ext cx="128016" cy="128016"/>
          </a:xfrm>
          <a:prstGeom prst="ellipse">
            <a:avLst/>
          </a:prstGeom>
          <a:solidFill>
            <a:srgbClr val="35C88E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450592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Partnerarbeit „Pair Administration“  –  </a:t>
            </a:r>
            <a:pPr indent="0" marL="0">
              <a:buNone/>
            </a:pPr>
            <a:r>
              <a:rPr lang="en-US" sz="13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tippt, die andere liest vor und kontrolliert – nach Teil A tauschen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374136"/>
            <a:ext cx="128016" cy="128016"/>
          </a:xfrm>
          <a:prstGeom prst="ellipse">
            <a:avLst/>
          </a:prstGeom>
          <a:solidFill>
            <a:srgbClr val="35C88E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346704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Abkürzungen sofort mitnehmen  –  </a:t>
            </a:r>
            <a:pPr indent="0" marL="0">
              <a:buNone/>
            </a:pPr>
            <a:r>
              <a:rPr lang="en-US" sz="13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vervollständigt, ↑ holt den letzten Befehl zurück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2976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Ziel-Zeit: 12 Minuten. </a:t>
            </a:r>
            <a:pPr indent="0" marL="0">
              <a:buNone/>
            </a:pPr>
            <a:r>
              <a:rPr lang="en-US" sz="1350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fertig ist, klärt die Zusatzfrage: Was bewirkt ls -lt – und wofür braucht das ein Admin?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II · MINUTE 37–49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Pipe: Fließband für Daten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1C242E"/>
          </a:solidFill>
          <a:ln/>
          <a:effectLst>
            <a:outerShdw sx="100000" sy="100000" kx="0" ky="0" algn="bl" rotWithShape="0" blurRad="63500" dist="25400" dir="54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70078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2103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12848" y="1664208"/>
            <a:ext cx="4206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8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651760" y="1600200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1C242E"/>
          </a:solidFill>
          <a:ln/>
          <a:effectLst>
            <a:outerShdw sx="100000" sy="100000" kx="0" ky="0" algn="bl" rotWithShape="0" blurRad="63500" dist="25400" dir="54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51760" y="170078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51760" y="2103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ausschneiden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61688" y="1664208"/>
            <a:ext cx="4206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8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800600" y="1600200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1C242E"/>
          </a:solidFill>
          <a:ln/>
          <a:effectLst>
            <a:outerShdw sx="100000" sy="100000" kx="0" ky="0" algn="bl" rotWithShape="0" blurRad="63500" dist="25400" dir="54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00600" y="170078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2103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sortieren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10528" y="1664208"/>
            <a:ext cx="4206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8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949440" y="1600200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1C242E"/>
          </a:solidFill>
          <a:ln/>
          <a:effectLst>
            <a:outerShdw sx="100000" sy="100000" kx="0" ky="0" algn="bl" rotWithShape="0" blurRad="63500" dist="25400" dir="54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49440" y="170078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 -c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949440" y="2103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zählen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288036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Zeichen, eine Idee: </a:t>
            </a:r>
            <a:pPr indent="0" marL="0">
              <a:buNone/>
            </a:pPr>
            <a:r>
              <a:rPr lang="en-US" sz="14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Ausgabe des linken Befehls wird zur Eingabe des rechten. Kleine Werkzeuge, die je eine Sache gut können – kombiniert lösen sie fast alles. Das ist die Unix-Philosophie.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" y="3703320"/>
            <a:ext cx="8138160" cy="914400"/>
          </a:xfrm>
          <a:prstGeom prst="roundRect">
            <a:avLst>
              <a:gd name="adj" fmla="val 7000"/>
            </a:avLst>
          </a:prstGeom>
          <a:solidFill>
            <a:srgbClr val="EAF4EF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822192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das für Ihre Schüler zählt: </a:t>
            </a:r>
            <a:pPr indent="0" marL="0">
              <a:buNone/>
            </a:pPr>
            <a:r>
              <a:rPr lang="en-US" sz="1300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Dasselbe Prinzip steckt in jeder Log-Analyse, jedem Deployment-Skript und jeder Prüfungsaufgabe zur Shell – vom Anfänger-Einzeiler bis zur Profi-Kette skaliert es mit jedem Niveau.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II · DIE CHALLENGE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Server-Krimi: Wer greift srv-schule01 an?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1325880"/>
          </a:xfrm>
          <a:prstGeom prst="roundRect">
            <a:avLst>
              <a:gd name="adj" fmla="val 4138"/>
            </a:avLst>
          </a:prstGeom>
          <a:solidFill>
            <a:srgbClr val="1C242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30936" y="1527048"/>
            <a:ext cx="100584" cy="100584"/>
          </a:xfrm>
          <a:prstGeom prst="ellipse">
            <a:avLst/>
          </a:prstGeom>
          <a:solidFill>
            <a:srgbClr val="E9645A"/>
          </a:solidFill>
          <a:ln/>
        </p:spPr>
      </p:sp>
      <p:sp>
        <p:nvSpPr>
          <p:cNvPr id="6" name="Shape 4"/>
          <p:cNvSpPr/>
          <p:nvPr/>
        </p:nvSpPr>
        <p:spPr>
          <a:xfrm>
            <a:off x="813816" y="1527048"/>
            <a:ext cx="100584" cy="100584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7" name="Shape 5"/>
          <p:cNvSpPr/>
          <p:nvPr/>
        </p:nvSpPr>
        <p:spPr>
          <a:xfrm>
            <a:off x="996696" y="1527048"/>
            <a:ext cx="100584" cy="100584"/>
          </a:xfrm>
          <a:prstGeom prst="ellipse">
            <a:avLst/>
          </a:prstGeom>
          <a:solidFill>
            <a:srgbClr val="5ECC71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" y="1728216"/>
            <a:ext cx="780897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-O &lt;LINK-VOM-BEAMER&gt;/server.log</a:t>
            </a:r>
            <a:endParaRPr lang="en-US" sz="1300" dirty="0"/>
          </a:p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35C8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wc -l server.log</a:t>
            </a:r>
            <a:endParaRPr lang="en-US" sz="1300" dirty="0"/>
          </a:p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D7E1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210 server.log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97180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EAF4EF"/>
          </a:solidFill>
          <a:ln/>
        </p:spPr>
      </p:sp>
      <p:sp>
        <p:nvSpPr>
          <p:cNvPr id="10" name="Shape 8"/>
          <p:cNvSpPr/>
          <p:nvPr/>
        </p:nvSpPr>
        <p:spPr>
          <a:xfrm>
            <a:off x="704088" y="31729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32735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80160" y="32186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Spurenlage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04088" y="37307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 Log-Zeilen, irgendwo darin: ein Brute-Force-Angriff auf SSH.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300984" y="297180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EA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3502152" y="31729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3273552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078224" y="32186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Ermittlung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3502152" y="37307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Aufgaben vom einfachen Zählen bis zur Befehlskette – Arbeitsblatt Teil B.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099048" y="297180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EAF4EF"/>
          </a:solidFill>
          <a:ln/>
        </p:spPr>
      </p:sp>
      <p:sp>
        <p:nvSpPr>
          <p:cNvPr id="20" name="Shape 16"/>
          <p:cNvSpPr/>
          <p:nvPr/>
        </p:nvSpPr>
        <p:spPr>
          <a:xfrm>
            <a:off x="6300216" y="31729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273552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876288" y="32186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Königsdisziplin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6300216" y="37307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Top-Liste der Angreifer-IPs in einer einzigen Zeile. Wer sie hat, ruft „Gefunden!“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· MINUTE 49–55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hier in Ihren Unterricht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EAF4EF"/>
          </a:solidFill>
          <a:ln/>
        </p:spPr>
      </p:sp>
      <p:sp>
        <p:nvSpPr>
          <p:cNvPr id="5" name="Shape 3"/>
          <p:cNvSpPr/>
          <p:nvPr/>
        </p:nvSpPr>
        <p:spPr>
          <a:xfrm>
            <a:off x="704088" y="1737360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5623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4088" y="237744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erlebt: die Sandbox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04088" y="2944368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Ihre Schüler starten genauso – Browser auf, loslegen. Null Setup, ideal für die erste Stunde.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00984" y="150876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EA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3502152" y="1737360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024" y="185623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02152" y="237744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Morgen im Raum: WSL2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3502152" y="2944368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Klassen-Image importieren, fertig. Persistente Umgebung für ganze Lernsituationen.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99048" y="150876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EAF4EF"/>
          </a:solidFill>
          <a:ln/>
        </p:spPr>
      </p:sp>
      <p:sp>
        <p:nvSpPr>
          <p:cNvPr id="15" name="Shape 11"/>
          <p:cNvSpPr/>
          <p:nvPr/>
        </p:nvSpPr>
        <p:spPr>
          <a:xfrm>
            <a:off x="6300216" y="1737360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856232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00216" y="237744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liegt bereit: LPI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300216" y="2944368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2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LPIC-1-Lernmaterialien: deutsch, kostenlos, mit Übungen samt Lösungen zu jeder Lektion.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502920" y="406908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Murmelrunde (2 Min.): </a:t>
            </a:r>
            <a:pPr indent="0" marL="0">
              <a:buNone/>
            </a:pPr>
            <a:r>
              <a:rPr lang="en-US" sz="1400" dirty="0">
                <a:solidFill>
                  <a:srgbClr val="2A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passt das in Ihren Bildungsgang – welches Lernfeld, welche Klasse, welche Woche? Besprechen Sie es mit Ihrem Sitznachbarn.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37160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Nehmen Sie drei Dinge mit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56692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5C8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188720" y="22860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Handout  –  </a:t>
            </a:r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WSL2-Installation, Klassen-Image-Rezept, Stolperstellen, alle Links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66928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5C8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1188720" y="3063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Übungen  –  </a:t>
            </a:r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Arbeitsblatt, server.log und Lösungen – direkt einsetzbar, frei anpassbar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5C8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1188720" y="3840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Einen Vorsatz  –  </a:t>
            </a:r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Exit-Ticket: Welche eine Sache probieren Sie nächste Woche aus?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02920" y="46177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5C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learning.lpi.org/de  ·  learn.microsoft.com/de-de/windows/wsl  ·  Material: &lt;Link/QR&gt;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unterrichten mit WSL2</dc:title>
  <dc:subject>PptxGenJS Presentation</dc:subject>
  <dc:creator>Workshop Regionaler Akademietag</dc:creator>
  <cp:lastModifiedBy>Workshop Regionaler Akademietag</cp:lastModifiedBy>
  <cp:revision>1</cp:revision>
  <dcterms:created xsi:type="dcterms:W3CDTF">2026-07-02T07:40:24Z</dcterms:created>
  <dcterms:modified xsi:type="dcterms:W3CDTF">2026-07-02T07:40:24Z</dcterms:modified>
</cp:coreProperties>
</file>