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Begrüßung. Ein Satz zur eigenen Person und Schule. Versprechen des Workshops formulieren: 'In 60 Minuten haben Sie selbst in einer Linux-Shell gearbeitet und wissen, wie Sie Linux in Ihren Windows-Computerraum bringen – ohne einen einzigen Rechner neu aufzusetzen.'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Blitzumfrage per Handzeichen durchführen: 1) Wer unterrichtet Linux-Inhalte oder müsste es laut Lehrplan? 2) Wer hat dafür geeignete Linux-Rechner? Die sichtbare Lücke zwischen beiden Handzeichen ist die Begründung des Workshops – darauf explizit hinweisen.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Kurz halten – maximal eine Minute. Wichtigste Botschaft: 'Sie schauen nicht nur zu – die Hälfte der Zeit arbeiten Sie selbst in einer Linux-Shell, direkt im Browser, ohne irgendetwas zu installieren.'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JETZT LIVE-DEMO STARTEN. Ablauf: 1) PowerShell als Admin zeigen, 'wsl --install' eintippen (wenn bereits installiert: den Befehl zeigen und erklären, dann direkt Ubuntu starten). 2) Ubuntu öffnen, 'uname -r' – der Kernel-Name mit 'microsoft' beweist: echtes Linux. 3) Abgrenzung zu Git Bash in einem Satz: dort gibt es kein apt, keine echten Prozesse, keine echten Rechte. SICHERHEITSNETZ: Screenshot-Serie/Video der Installation liegt bereit, falls WLAN oder Gerät streikt.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Beide Befehle live zeigen – das sind die beiden Momente, in denen erfahrungsgemäß die Stifte gezückt werden. Erst /mnt/c: eine Datei vom Windows-Desktop aus Linux heraus anzeigen (cat). Dann explorer.exe . – der 'Aha'-Moment, wenn der Explorer aufgeht. Kurz \\wsl$ in der Adresszeile erwähnen.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Das ist DIE Folie für die Schulleitung/IT-Abteilung. Kernbotschaft: Der Pflegeaufwand, der Linux-Räume bisher verhindert hat, verschwindet – eine tar-Datei ersetzt das Neuaufsetzen. Praxis-Tipp nennen: Standardbenutzer vor dem Export in /etc/wsl.conf festlegen, sonst startet die importierte Instanz als root. Details stehen im Handout – hier nicht vertiefen.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Diese Folie nimmt die Einwände vorweg, bevor sie aus dem Publikum kommen – das schafft Glaubwürdigkeit. Zwischenfragen hier kurz zulassen, aber Detaildiskussionen (einzelne Schulträger-Policies) aufs Handout und die Pause verweisen. Überleitung: 'Und falls all das bei Ihnen zutrifft – es gibt einen Weg ganz ohne Installation. Den nehmen wir jetzt.'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CHECKPOINT-FOLIE – hier nicht weitergehen, bevor jedes Team einen Prompt hat. VORHER: setup-workshop.sh auf dem Übungsserver ausführen, echte IP-Adresse auf dieser Folie eintragen (Platzhalter 10.0.0.5), Zugangsdaten-Zettel je Team (user01–user20, Passwort akademieNN). Typische Hänger: Fingerprint-Frage (mit yes beantworten), Tippfehler in der IP, Firmen-Notebooks mit blockiertem Port 22 – dafür 1–2 Leihgeräte oder Teams mischen. Wer mit eigenem WSL2 arbeiten will: gern, gleiche Aufgaben. Arbeitsblätter jetzt austeilen.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Folie stehen lassen und herumgehen – nicht vorne bleiben. Typische Hänger: Tippfehler (auf Tab-Vervollständigung verweisen), Groß-/Kleinschreibung, 'q' zum Verlassen von man. Nicht selbst tippen – höchstens den Partner tippen lassen. Nach ~10 Minuten Zwischenstand abfragen, nach 12 Minuten Aufgabe 4 und 6 kurz am Beamer auflösen.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Kurze Konzept-Folie (max. 2 Minuten), bevor die Challenge startet. Das Fließband einmal laut von links nach rechts vorlesen: filtere – schneide – sortiere – zähle. Betonen: sort muss vor uniq stehen, weil uniq nur Nachbarn vergleicht – das wird gleich der häufigste Fehler sein.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Challenge starten, wieder herumgehen. Differenzierung läuft von selbst: Schwächere schaffen grep + wc, Stärkere bauen die volle Kette. Häufigster Fehler: falsche Feldnummer bei cut – bewusst NICHT sofort helfen, das Fehlerbild ist lehrreich. Auflösung nach ~10 Min live am Beamer: Einzeiler tippen, Ergebnis zeigen (203.0.113.42 mit 28 Versuchen), dann die Kette Wort für Wort vorlesen lassen. Lösungsblatt liegt bereit.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Der Bogen: Was die Lehrer heute am Übungsserver erlebt haben, ist exakt die Schülerperspektive – und den Server können sie mit den mitgegebenen Skripten (setup-workshop.sh) in Minuten selbst nachbauen, z. B. in einer WSL2-Instanz. Murmelrunde starten, danach 2–3 Stimmen einsammeln (verschiedene Berufe abfragen: FISI, FIAE, ITSE, kaufmännische IT-Berufe). LPI-Themen nennen: 103.1, 103.2, 103.4 waren die heutige Basis; 104.5 Dateirechte der logische nächste Schritt.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Exit-Ticket mündlich oder per Zettel/Padlet: 'Eine Sache, die ich nächste Woche ausprobiere.' 2–3 Antworten laut vorlesen lassen – das verankert Verbindlichkeit. Zum Schluss: Kontaktdaten nennen, Materiallink zeigen, für Fragen im Anschluss verfügbar bleiben. Danke!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18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20640" y="1143000"/>
            <a:ext cx="3520440" cy="2834640"/>
          </a:xfrm>
          <a:prstGeom prst="roundRect">
            <a:avLst>
              <a:gd name="adj" fmla="val 1935"/>
            </a:avLst>
          </a:prstGeom>
          <a:solidFill>
            <a:srgbClr val="1C242E"/>
          </a:solidFill>
          <a:ln/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sp>
      <p:sp>
        <p:nvSpPr>
          <p:cNvPr id="3" name="Shape 1"/>
          <p:cNvSpPr/>
          <p:nvPr/>
        </p:nvSpPr>
        <p:spPr>
          <a:xfrm>
            <a:off x="5248656" y="1252728"/>
            <a:ext cx="100584" cy="100584"/>
          </a:xfrm>
          <a:prstGeom prst="ellipse">
            <a:avLst/>
          </a:prstGeom>
          <a:solidFill>
            <a:srgbClr val="E9645A"/>
          </a:solidFill>
          <a:ln/>
        </p:spPr>
      </p:sp>
      <p:sp>
        <p:nvSpPr>
          <p:cNvPr id="4" name="Shape 2"/>
          <p:cNvSpPr/>
          <p:nvPr/>
        </p:nvSpPr>
        <p:spPr>
          <a:xfrm>
            <a:off x="5431536" y="1252728"/>
            <a:ext cx="100584" cy="100584"/>
          </a:xfrm>
          <a:prstGeom prst="ellipse">
            <a:avLst/>
          </a:prstGeom>
          <a:solidFill>
            <a:srgbClr val="F0B429"/>
          </a:solidFill>
          <a:ln/>
        </p:spPr>
      </p:sp>
      <p:sp>
        <p:nvSpPr>
          <p:cNvPr id="5" name="Shape 3"/>
          <p:cNvSpPr/>
          <p:nvPr/>
        </p:nvSpPr>
        <p:spPr>
          <a:xfrm>
            <a:off x="5614416" y="1252728"/>
            <a:ext cx="100584" cy="100584"/>
          </a:xfrm>
          <a:prstGeom prst="ellipse">
            <a:avLst/>
          </a:prstGeom>
          <a:solidFill>
            <a:srgbClr val="5ECC71"/>
          </a:solidFill>
          <a:ln/>
        </p:spPr>
      </p:sp>
      <p:sp>
        <p:nvSpPr>
          <p:cNvPr id="6" name="Text 4"/>
          <p:cNvSpPr/>
          <p:nvPr/>
        </p:nvSpPr>
        <p:spPr>
          <a:xfrm>
            <a:off x="5285232" y="1453896"/>
            <a:ext cx="3191256" cy="2414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30"/>
              </a:lnSpc>
              <a:buNone/>
            </a:pPr>
            <a:r>
              <a:rPr lang="en-US" sz="1400" dirty="0">
                <a:solidFill>
                  <a:srgbClr val="9AA7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PS C:\&gt; wsl --install</a:t>
            </a:r>
            <a:endParaRPr lang="en-US" sz="1400" dirty="0"/>
          </a:p>
          <a:p>
            <a:pPr algn="l" indent="0" marL="0">
              <a:lnSpc>
                <a:spcPts val="2030"/>
              </a:lnSpc>
              <a:buNone/>
            </a:pPr>
            <a:r>
              <a:rPr lang="en-US" sz="1400" dirty="0">
                <a:solidFill>
                  <a:srgbClr val="9AA7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Ubuntu wird installiert ...</a:t>
            </a:r>
            <a:endParaRPr lang="en-US" sz="1400" dirty="0"/>
          </a:p>
          <a:p>
            <a:pPr algn="l" indent="0" marL="0">
              <a:lnSpc>
                <a:spcPts val="2030"/>
              </a:lnSpc>
              <a:buNone/>
            </a:pPr>
            <a:endParaRPr lang="en-US" sz="1400" dirty="0"/>
          </a:p>
          <a:p>
            <a:pPr algn="l" indent="0" marL="0">
              <a:lnSpc>
                <a:spcPts val="2030"/>
              </a:lnSpc>
              <a:buNone/>
            </a:pPr>
            <a:r>
              <a:rPr lang="en-US" sz="1400" b="1" dirty="0">
                <a:solidFill>
                  <a:srgbClr val="35C88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zi@srv-schule01:~$ _</a:t>
            </a:r>
            <a:endParaRPr lang="en-US" sz="14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685800"/>
            <a:ext cx="594360" cy="5943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02920" y="1508760"/>
            <a:ext cx="44805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Linux unterrichten – auf Windows-Rechnern</a:t>
            </a:r>
            <a:endParaRPr lang="en-US" sz="3300" dirty="0"/>
          </a:p>
        </p:txBody>
      </p:sp>
      <p:sp>
        <p:nvSpPr>
          <p:cNvPr id="9" name="Text 6"/>
          <p:cNvSpPr/>
          <p:nvPr/>
        </p:nvSpPr>
        <p:spPr>
          <a:xfrm>
            <a:off x="502920" y="2880360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35C8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WSL2 im Schulkontext: Ein Weg für alle IT-Berufe</a:t>
            </a:r>
            <a:endParaRPr lang="en-US" sz="1700" dirty="0"/>
          </a:p>
        </p:txBody>
      </p:sp>
      <p:sp>
        <p:nvSpPr>
          <p:cNvPr id="10" name="Text 7"/>
          <p:cNvSpPr/>
          <p:nvPr/>
        </p:nvSpPr>
        <p:spPr>
          <a:xfrm>
            <a:off x="502920" y="4434840"/>
            <a:ext cx="8138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96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Workshop · Regionaler Akademietag der Cisco Networking Academy · 60 Minuten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E8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EINSTIEG · MINUTE 0–5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8138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A3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 Dilemma jedes IT-Bildungsgangs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508760"/>
            <a:ext cx="3913632" cy="2148840"/>
          </a:xfrm>
          <a:prstGeom prst="roundRect">
            <a:avLst>
              <a:gd name="adj" fmla="val 3404"/>
            </a:avLst>
          </a:prstGeom>
          <a:solidFill>
            <a:srgbClr val="EAF4EF"/>
          </a:solidFill>
          <a:ln/>
        </p:spPr>
      </p:sp>
      <p:sp>
        <p:nvSpPr>
          <p:cNvPr id="5" name="Shape 3"/>
          <p:cNvSpPr/>
          <p:nvPr/>
        </p:nvSpPr>
        <p:spPr>
          <a:xfrm>
            <a:off x="758952" y="1783080"/>
            <a:ext cx="566928" cy="566928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7824" y="1901952"/>
            <a:ext cx="329184" cy="32918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58952" y="2487168"/>
            <a:ext cx="3429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A3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Die Lehrpläne verlangen Linux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758952" y="2852928"/>
            <a:ext cx="3429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672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Server, Cloud, Container, Netzwerktechnik, Abschlussprüfungen – überall Linux-Kommandozeile. Quer durch alle IT-Berufe.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4727448" y="1508760"/>
            <a:ext cx="3913632" cy="2148840"/>
          </a:xfrm>
          <a:prstGeom prst="roundRect">
            <a:avLst>
              <a:gd name="adj" fmla="val 3404"/>
            </a:avLst>
          </a:prstGeom>
          <a:solidFill>
            <a:srgbClr val="EAF4EF"/>
          </a:solidFill>
          <a:ln/>
        </p:spPr>
      </p:sp>
      <p:sp>
        <p:nvSpPr>
          <p:cNvPr id="10" name="Shape 7"/>
          <p:cNvSpPr/>
          <p:nvPr/>
        </p:nvSpPr>
        <p:spPr>
          <a:xfrm>
            <a:off x="4983480" y="1783080"/>
            <a:ext cx="566928" cy="566928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02352" y="1901952"/>
            <a:ext cx="329184" cy="32918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983480" y="2487168"/>
            <a:ext cx="3429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A3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Die Schule hat Windows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4983480" y="2852928"/>
            <a:ext cx="3429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672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Computerräume, Dienstgeräte, Softwareverteilung: Windows 10/11. Dual-Boot und eigene Linux-Räume sind Pflegemonster.</a:t>
            </a:r>
            <a:endParaRPr lang="en-US" sz="1250" dirty="0"/>
          </a:p>
        </p:txBody>
      </p:sp>
      <p:sp>
        <p:nvSpPr>
          <p:cNvPr id="14" name="Text 10"/>
          <p:cNvSpPr/>
          <p:nvPr/>
        </p:nvSpPr>
        <p:spPr>
          <a:xfrm>
            <a:off x="502920" y="3977640"/>
            <a:ext cx="8138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8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Blitzumfrage: </a:t>
            </a:r>
            <a:pPr indent="0" marL="0">
              <a:buNone/>
            </a:pPr>
            <a:r>
              <a:rPr lang="en-US" sz="1400" dirty="0">
                <a:solidFill>
                  <a:srgbClr val="2A3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Wer hat Linux-Inhalte im Lehrplan? Und wer hat dafür Linux-Rechner im Klassenraum? – Die Lücke dazwischen schließen wir heute.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E8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FAHRPLAN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8138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A3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 Minuten, drei Stationen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02920" y="1481328"/>
            <a:ext cx="868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35C88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1554480" y="1527048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A3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Sehen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1554480" y="1911096"/>
            <a:ext cx="5669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672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Demo: WSL2 auf einem echten Windows-Rechner – vom Install-Befehl bis zum Klassen-Image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7452360" y="155448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E8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Min.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02920" y="2505456"/>
            <a:ext cx="868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35C88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1554480" y="2551176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A3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Selbst machen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1554480" y="2935224"/>
            <a:ext cx="5669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672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Hands-on auf dem Übungsserver per SSH: Kommandozeilen-Rallye und der Server-Krimi mit Pipes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7452360" y="257860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E8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Min.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02920" y="3529584"/>
            <a:ext cx="868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35C88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4000" dirty="0"/>
          </a:p>
        </p:txBody>
      </p:sp>
      <p:sp>
        <p:nvSpPr>
          <p:cNvPr id="13" name="Text 11"/>
          <p:cNvSpPr/>
          <p:nvPr/>
        </p:nvSpPr>
        <p:spPr>
          <a:xfrm>
            <a:off x="1554480" y="3575304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A3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Mitnehmen</a:t>
            </a:r>
            <a:endParaRPr lang="en-US" sz="1900" dirty="0"/>
          </a:p>
        </p:txBody>
      </p:sp>
      <p:sp>
        <p:nvSpPr>
          <p:cNvPr id="14" name="Text 12"/>
          <p:cNvSpPr/>
          <p:nvPr/>
        </p:nvSpPr>
        <p:spPr>
          <a:xfrm>
            <a:off x="1554480" y="3959352"/>
            <a:ext cx="5669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672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Transfer in Ihren Unterricht: LPI-Materialien, Einsatzszenarien, Handout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7452360" y="3602736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E8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Min.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E8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· MINUTE 5–20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8138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A3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WSL2: Ein echtes Linux, kein Imitat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892040" y="1417320"/>
            <a:ext cx="3749040" cy="3063240"/>
          </a:xfrm>
          <a:prstGeom prst="roundRect">
            <a:avLst>
              <a:gd name="adj" fmla="val 1791"/>
            </a:avLst>
          </a:prstGeom>
          <a:solidFill>
            <a:srgbClr val="1C242E"/>
          </a:solidFill>
          <a:ln/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020056" y="1527048"/>
            <a:ext cx="100584" cy="100584"/>
          </a:xfrm>
          <a:prstGeom prst="ellipse">
            <a:avLst/>
          </a:prstGeom>
          <a:solidFill>
            <a:srgbClr val="E9645A"/>
          </a:solidFill>
          <a:ln/>
        </p:spPr>
      </p:sp>
      <p:sp>
        <p:nvSpPr>
          <p:cNvPr id="6" name="Shape 4"/>
          <p:cNvSpPr/>
          <p:nvPr/>
        </p:nvSpPr>
        <p:spPr>
          <a:xfrm>
            <a:off x="5202936" y="1527048"/>
            <a:ext cx="100584" cy="100584"/>
          </a:xfrm>
          <a:prstGeom prst="ellipse">
            <a:avLst/>
          </a:prstGeom>
          <a:solidFill>
            <a:srgbClr val="F0B429"/>
          </a:solidFill>
          <a:ln/>
        </p:spPr>
      </p:sp>
      <p:sp>
        <p:nvSpPr>
          <p:cNvPr id="7" name="Shape 5"/>
          <p:cNvSpPr/>
          <p:nvPr/>
        </p:nvSpPr>
        <p:spPr>
          <a:xfrm>
            <a:off x="5385816" y="1527048"/>
            <a:ext cx="100584" cy="100584"/>
          </a:xfrm>
          <a:prstGeom prst="ellipse">
            <a:avLst/>
          </a:prstGeom>
          <a:solidFill>
            <a:srgbClr val="5ECC71"/>
          </a:solidFill>
          <a:ln/>
        </p:spPr>
      </p:sp>
      <p:sp>
        <p:nvSpPr>
          <p:cNvPr id="8" name="Text 6"/>
          <p:cNvSpPr/>
          <p:nvPr/>
        </p:nvSpPr>
        <p:spPr>
          <a:xfrm>
            <a:off x="5056632" y="1728216"/>
            <a:ext cx="3419856" cy="2642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13"/>
              </a:lnSpc>
              <a:buNone/>
            </a:pPr>
            <a:r>
              <a:rPr lang="en-US" sz="1250" dirty="0">
                <a:solidFill>
                  <a:srgbClr val="9AA7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PS C:\&gt; wsl --install</a:t>
            </a:r>
            <a:endParaRPr lang="en-US" sz="1250" dirty="0"/>
          </a:p>
          <a:p>
            <a:pPr algn="l" indent="0" marL="0">
              <a:lnSpc>
                <a:spcPts val="1813"/>
              </a:lnSpc>
              <a:buNone/>
            </a:pPr>
            <a:endParaRPr lang="en-US" sz="1250" dirty="0"/>
          </a:p>
          <a:p>
            <a:pPr algn="l" indent="0" marL="0">
              <a:lnSpc>
                <a:spcPts val="1813"/>
              </a:lnSpc>
              <a:buNone/>
            </a:pPr>
            <a:r>
              <a:rPr lang="en-US" sz="1250" dirty="0">
                <a:solidFill>
                  <a:srgbClr val="9AA7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Installation: Ubuntu ...</a:t>
            </a:r>
            <a:endParaRPr lang="en-US" sz="1250" dirty="0"/>
          </a:p>
          <a:p>
            <a:pPr algn="l" indent="0" marL="0">
              <a:lnSpc>
                <a:spcPts val="1813"/>
              </a:lnSpc>
              <a:buNone/>
            </a:pPr>
            <a:r>
              <a:rPr lang="en-US" sz="1250" dirty="0">
                <a:solidFill>
                  <a:srgbClr val="9AA7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Neustart erforderlich.</a:t>
            </a:r>
            <a:endParaRPr lang="en-US" sz="1250" dirty="0"/>
          </a:p>
          <a:p>
            <a:pPr algn="l" indent="0" marL="0">
              <a:lnSpc>
                <a:spcPts val="1813"/>
              </a:lnSpc>
              <a:buNone/>
            </a:pPr>
            <a:endParaRPr lang="en-US" sz="1250" dirty="0"/>
          </a:p>
          <a:p>
            <a:pPr algn="l" indent="0" marL="0">
              <a:lnSpc>
                <a:spcPts val="1813"/>
              </a:lnSpc>
              <a:buNone/>
            </a:pPr>
            <a:r>
              <a:rPr lang="en-US" sz="1250" dirty="0">
                <a:solidFill>
                  <a:srgbClr val="35C88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zi@PC:~$ uname -r</a:t>
            </a:r>
            <a:endParaRPr lang="en-US" sz="1250" dirty="0"/>
          </a:p>
          <a:p>
            <a:pPr algn="l" indent="0" marL="0">
              <a:lnSpc>
                <a:spcPts val="1813"/>
              </a:lnSpc>
              <a:buNone/>
            </a:pPr>
            <a:r>
              <a:rPr lang="en-US" sz="1250" dirty="0">
                <a:solidFill>
                  <a:srgbClr val="D7E1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6.6.87-microsoft-standard</a:t>
            </a:r>
            <a:endParaRPr lang="en-US" sz="1250" dirty="0"/>
          </a:p>
          <a:p>
            <a:pPr algn="l" indent="0" marL="0">
              <a:lnSpc>
                <a:spcPts val="1813"/>
              </a:lnSpc>
              <a:buNone/>
            </a:pPr>
            <a:r>
              <a:rPr lang="en-US" sz="1250" b="1" dirty="0">
                <a:solidFill>
                  <a:srgbClr val="35C88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zi@PC:~$ _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02920" y="1508760"/>
            <a:ext cx="128016" cy="128016"/>
          </a:xfrm>
          <a:prstGeom prst="ellipse">
            <a:avLst/>
          </a:prstGeom>
          <a:solidFill>
            <a:srgbClr val="35C88E"/>
          </a:solidFill>
          <a:ln/>
        </p:spPr>
      </p:sp>
      <p:sp>
        <p:nvSpPr>
          <p:cNvPr id="10" name="Text 8"/>
          <p:cNvSpPr/>
          <p:nvPr/>
        </p:nvSpPr>
        <p:spPr>
          <a:xfrm>
            <a:off x="777240" y="1481328"/>
            <a:ext cx="3931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A3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Vollwertige, leichtgewichtige VM  </a:t>
            </a:r>
            <a:pPr indent="0" marL="0">
              <a:buNone/>
            </a:pPr>
            <a:r>
              <a:rPr lang="en-US" sz="1250" dirty="0">
                <a:solidFill>
                  <a:srgbClr val="6672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 echtem Linux-Kernel – kein Emulator, keine Nachbildung wie Git Bash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02920" y="2267712"/>
            <a:ext cx="128016" cy="128016"/>
          </a:xfrm>
          <a:prstGeom prst="ellipse">
            <a:avLst/>
          </a:prstGeom>
          <a:solidFill>
            <a:srgbClr val="35C88E"/>
          </a:solidFill>
          <a:ln/>
        </p:spPr>
      </p:sp>
      <p:sp>
        <p:nvSpPr>
          <p:cNvPr id="12" name="Text 10"/>
          <p:cNvSpPr/>
          <p:nvPr/>
        </p:nvSpPr>
        <p:spPr>
          <a:xfrm>
            <a:off x="777240" y="2240280"/>
            <a:ext cx="3931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A3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Ein Befehl, eine Kaffeepause  </a:t>
            </a:r>
            <a:pPr indent="0" marL="0">
              <a:buNone/>
            </a:pPr>
            <a:r>
              <a:rPr lang="en-US" sz="1250" dirty="0">
                <a:solidFill>
                  <a:srgbClr val="6672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wsl --install richtet alles ein, inklusive Ubuntu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02920" y="3026664"/>
            <a:ext cx="128016" cy="128016"/>
          </a:xfrm>
          <a:prstGeom prst="ellipse">
            <a:avLst/>
          </a:prstGeom>
          <a:solidFill>
            <a:srgbClr val="35C88E"/>
          </a:solidFill>
          <a:ln/>
        </p:spPr>
      </p:sp>
      <p:sp>
        <p:nvSpPr>
          <p:cNvPr id="14" name="Text 12"/>
          <p:cNvSpPr/>
          <p:nvPr/>
        </p:nvSpPr>
        <p:spPr>
          <a:xfrm>
            <a:off x="777240" y="2999232"/>
            <a:ext cx="3931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A3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Startet in Sekunden  </a:t>
            </a:r>
            <a:pPr indent="0" marL="0">
              <a:buNone/>
            </a:pPr>
            <a:r>
              <a:rPr lang="en-US" sz="1250" dirty="0">
                <a:solidFill>
                  <a:srgbClr val="6672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fühlt sich an wie ein normales Programm, nicht wie eine virtuelle Maschine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502920" y="3785616"/>
            <a:ext cx="128016" cy="128016"/>
          </a:xfrm>
          <a:prstGeom prst="ellipse">
            <a:avLst/>
          </a:prstGeom>
          <a:solidFill>
            <a:srgbClr val="35C88E"/>
          </a:solidFill>
          <a:ln/>
        </p:spPr>
      </p:sp>
      <p:sp>
        <p:nvSpPr>
          <p:cNvPr id="16" name="Text 14"/>
          <p:cNvSpPr/>
          <p:nvPr/>
        </p:nvSpPr>
        <p:spPr>
          <a:xfrm>
            <a:off x="777240" y="3758184"/>
            <a:ext cx="3931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A3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Kostenlos &amp; offiziell  </a:t>
            </a:r>
            <a:pPr indent="0" marL="0">
              <a:buNone/>
            </a:pPr>
            <a:r>
              <a:rPr lang="en-US" sz="1250" dirty="0">
                <a:solidFill>
                  <a:srgbClr val="6672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Bestandteil von Windows 10 (ab 2004) und Windows 11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E8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· LIVE AM BEAMER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8138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A3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Zwei Welten, eine Maschine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463040"/>
            <a:ext cx="3913632" cy="2514600"/>
          </a:xfrm>
          <a:prstGeom prst="roundRect">
            <a:avLst>
              <a:gd name="adj" fmla="val 2909"/>
            </a:avLst>
          </a:prstGeom>
          <a:solidFill>
            <a:srgbClr val="EAF4EF"/>
          </a:solidFill>
          <a:ln/>
        </p:spPr>
      </p:sp>
      <p:sp>
        <p:nvSpPr>
          <p:cNvPr id="5" name="Shape 3"/>
          <p:cNvSpPr/>
          <p:nvPr/>
        </p:nvSpPr>
        <p:spPr>
          <a:xfrm>
            <a:off x="758952" y="1719072"/>
            <a:ext cx="530352" cy="530352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7824" y="1837944"/>
            <a:ext cx="292608" cy="2926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35608" y="1810512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A3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Windows → Linux</a:t>
            </a:r>
            <a:endParaRPr lang="en-US" sz="1700" dirty="0"/>
          </a:p>
        </p:txBody>
      </p:sp>
      <p:sp>
        <p:nvSpPr>
          <p:cNvPr id="8" name="Shape 5"/>
          <p:cNvSpPr/>
          <p:nvPr/>
        </p:nvSpPr>
        <p:spPr>
          <a:xfrm>
            <a:off x="758952" y="2395728"/>
            <a:ext cx="3401568" cy="457200"/>
          </a:xfrm>
          <a:prstGeom prst="roundRect">
            <a:avLst>
              <a:gd name="adj" fmla="val 10000"/>
            </a:avLst>
          </a:prstGeom>
          <a:solidFill>
            <a:srgbClr val="1C242E"/>
          </a:solidFill>
          <a:ln/>
        </p:spPr>
      </p:sp>
      <p:sp>
        <p:nvSpPr>
          <p:cNvPr id="9" name="Text 6"/>
          <p:cNvSpPr/>
          <p:nvPr/>
        </p:nvSpPr>
        <p:spPr>
          <a:xfrm>
            <a:off x="896112" y="2395728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5C88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cd /mnt/c/Users/zi/Desktop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758952" y="2999232"/>
            <a:ext cx="340156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72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Alle Windows-Laufwerke sind im Linux-Dateibaum eingehängt – Unterrichtsmaterial liegt sofort bereit.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4727448" y="1463040"/>
            <a:ext cx="3913632" cy="2514600"/>
          </a:xfrm>
          <a:prstGeom prst="roundRect">
            <a:avLst>
              <a:gd name="adj" fmla="val 2909"/>
            </a:avLst>
          </a:prstGeom>
          <a:solidFill>
            <a:srgbClr val="EAF4EF"/>
          </a:solidFill>
          <a:ln/>
        </p:spPr>
      </p:sp>
      <p:sp>
        <p:nvSpPr>
          <p:cNvPr id="12" name="Shape 9"/>
          <p:cNvSpPr/>
          <p:nvPr/>
        </p:nvSpPr>
        <p:spPr>
          <a:xfrm>
            <a:off x="4983480" y="1719072"/>
            <a:ext cx="530352" cy="530352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02352" y="1837944"/>
            <a:ext cx="292608" cy="29260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660136" y="1810512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A3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Linux → Windows</a:t>
            </a:r>
            <a:endParaRPr lang="en-US" sz="1700" dirty="0"/>
          </a:p>
        </p:txBody>
      </p:sp>
      <p:sp>
        <p:nvSpPr>
          <p:cNvPr id="15" name="Shape 11"/>
          <p:cNvSpPr/>
          <p:nvPr/>
        </p:nvSpPr>
        <p:spPr>
          <a:xfrm>
            <a:off x="4983480" y="2395728"/>
            <a:ext cx="3401568" cy="457200"/>
          </a:xfrm>
          <a:prstGeom prst="roundRect">
            <a:avLst>
              <a:gd name="adj" fmla="val 10000"/>
            </a:avLst>
          </a:prstGeom>
          <a:solidFill>
            <a:srgbClr val="1C242E"/>
          </a:solidFill>
          <a:ln/>
        </p:spPr>
      </p:sp>
      <p:sp>
        <p:nvSpPr>
          <p:cNvPr id="16" name="Text 12"/>
          <p:cNvSpPr/>
          <p:nvPr/>
        </p:nvSpPr>
        <p:spPr>
          <a:xfrm>
            <a:off x="5120640" y="2395728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5C88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explorer.exe .</a:t>
            </a:r>
            <a:endParaRPr lang="en-US" sz="1250" dirty="0"/>
          </a:p>
        </p:txBody>
      </p:sp>
      <p:sp>
        <p:nvSpPr>
          <p:cNvPr id="17" name="Text 13"/>
          <p:cNvSpPr/>
          <p:nvPr/>
        </p:nvSpPr>
        <p:spPr>
          <a:xfrm>
            <a:off x="4983480" y="2999232"/>
            <a:ext cx="340156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72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Öffnet das aktuelle Linux-Verzeichnis im Windows-Explorer. Auch VS Code verbindet sich direkt in die Distribution.</a:t>
            </a:r>
            <a:endParaRPr lang="en-US" sz="1200" dirty="0"/>
          </a:p>
        </p:txBody>
      </p:sp>
      <p:sp>
        <p:nvSpPr>
          <p:cNvPr id="18" name="Text 14"/>
          <p:cNvSpPr/>
          <p:nvPr/>
        </p:nvSpPr>
        <p:spPr>
          <a:xfrm>
            <a:off x="502920" y="4206240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8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Für den Unterricht heißt das: </a:t>
            </a:r>
            <a:pPr indent="0" marL="0">
              <a:buNone/>
            </a:pPr>
            <a:r>
              <a:rPr lang="en-US" sz="1400" dirty="0">
                <a:solidFill>
                  <a:srgbClr val="2A3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kein Datei-Hin-und-Her, kein zweiter Rechner, keine Grenze zwischen Arbeitsblatt (Windows) und Übung (Linux).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E8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· DAS SCHUL-ARGUMENT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8138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A3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 Klassen-Image: 1 Umgebung, 30 Rechner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463040"/>
            <a:ext cx="8138160" cy="1600200"/>
          </a:xfrm>
          <a:prstGeom prst="roundRect">
            <a:avLst>
              <a:gd name="adj" fmla="val 3429"/>
            </a:avLst>
          </a:prstGeom>
          <a:solidFill>
            <a:srgbClr val="1C242E"/>
          </a:solidFill>
          <a:ln/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30936" y="1572768"/>
            <a:ext cx="100584" cy="100584"/>
          </a:xfrm>
          <a:prstGeom prst="ellipse">
            <a:avLst/>
          </a:prstGeom>
          <a:solidFill>
            <a:srgbClr val="E9645A"/>
          </a:solidFill>
          <a:ln/>
        </p:spPr>
      </p:sp>
      <p:sp>
        <p:nvSpPr>
          <p:cNvPr id="6" name="Shape 4"/>
          <p:cNvSpPr/>
          <p:nvPr/>
        </p:nvSpPr>
        <p:spPr>
          <a:xfrm>
            <a:off x="813816" y="1572768"/>
            <a:ext cx="100584" cy="100584"/>
          </a:xfrm>
          <a:prstGeom prst="ellipse">
            <a:avLst/>
          </a:prstGeom>
          <a:solidFill>
            <a:srgbClr val="F0B429"/>
          </a:solidFill>
          <a:ln/>
        </p:spPr>
      </p:sp>
      <p:sp>
        <p:nvSpPr>
          <p:cNvPr id="7" name="Shape 5"/>
          <p:cNvSpPr/>
          <p:nvPr/>
        </p:nvSpPr>
        <p:spPr>
          <a:xfrm>
            <a:off x="996696" y="1572768"/>
            <a:ext cx="100584" cy="100584"/>
          </a:xfrm>
          <a:prstGeom prst="ellipse">
            <a:avLst/>
          </a:prstGeom>
          <a:solidFill>
            <a:srgbClr val="5ECC71"/>
          </a:solidFill>
          <a:ln/>
        </p:spPr>
      </p:sp>
      <p:sp>
        <p:nvSpPr>
          <p:cNvPr id="8" name="Text 6"/>
          <p:cNvSpPr/>
          <p:nvPr/>
        </p:nvSpPr>
        <p:spPr>
          <a:xfrm>
            <a:off x="667512" y="1773936"/>
            <a:ext cx="7808976" cy="11795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85"/>
              </a:lnSpc>
              <a:buNone/>
            </a:pPr>
            <a:r>
              <a:rPr lang="en-US" sz="1300" dirty="0">
                <a:solidFill>
                  <a:srgbClr val="8A96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REM Lehrer-PC: Muster-Instanz einfrieren</a:t>
            </a:r>
            <a:endParaRPr lang="en-US" sz="1300" dirty="0"/>
          </a:p>
          <a:p>
            <a:pPr algn="l" indent="0" marL="0">
              <a:lnSpc>
                <a:spcPts val="1885"/>
              </a:lnSpc>
              <a:buNone/>
            </a:pPr>
            <a:r>
              <a:rPr lang="en-US" sz="1300" dirty="0">
                <a:solidFill>
                  <a:srgbClr val="35C88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wsl --export Ubuntu C:\Images\fisi-uebung.tar</a:t>
            </a:r>
            <a:endParaRPr lang="en-US" sz="1300" dirty="0"/>
          </a:p>
          <a:p>
            <a:pPr algn="l" indent="0" marL="0">
              <a:lnSpc>
                <a:spcPts val="1885"/>
              </a:lnSpc>
              <a:buNone/>
            </a:pPr>
            <a:r>
              <a:rPr lang="en-US" sz="1300" dirty="0">
                <a:solidFill>
                  <a:srgbClr val="8A96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REM Schüler-PC: identisch ausrollen</a:t>
            </a:r>
            <a:endParaRPr lang="en-US" sz="1300" dirty="0"/>
          </a:p>
          <a:p>
            <a:pPr algn="l" indent="0" marL="0">
              <a:lnSpc>
                <a:spcPts val="1885"/>
              </a:lnSpc>
              <a:buNone/>
            </a:pPr>
            <a:r>
              <a:rPr lang="en-US" sz="1300" dirty="0">
                <a:solidFill>
                  <a:srgbClr val="35C88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wsl --import FISI-Uebung C:\WSL\fisi C:\Images\fisi-uebung.tar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02920" y="3310128"/>
            <a:ext cx="457200" cy="457200"/>
          </a:xfrm>
          <a:prstGeom prst="ellipse">
            <a:avLst/>
          </a:prstGeom>
          <a:solidFill>
            <a:srgbClr val="EAF4EF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3504" y="3410712"/>
            <a:ext cx="256032" cy="256032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502920" y="3886200"/>
            <a:ext cx="2606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A3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Einmal vorbereiten: Benutzer, Pakete, Übungsdateien, Startzustand der Lernsituation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3300984" y="3310128"/>
            <a:ext cx="457200" cy="457200"/>
          </a:xfrm>
          <a:prstGeom prst="ellipse">
            <a:avLst/>
          </a:prstGeom>
          <a:solidFill>
            <a:srgbClr val="EAF4EF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01568" y="3410712"/>
            <a:ext cx="256032" cy="256032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3300984" y="3886200"/>
            <a:ext cx="2606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A3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Als eine Datei verteilen: Netzlaufwerk, USB oder Softwareverteilung</a:t>
            </a:r>
            <a:endParaRPr lang="en-US" sz="1150" dirty="0"/>
          </a:p>
        </p:txBody>
      </p:sp>
      <p:sp>
        <p:nvSpPr>
          <p:cNvPr id="15" name="Shape 11"/>
          <p:cNvSpPr/>
          <p:nvPr/>
        </p:nvSpPr>
        <p:spPr>
          <a:xfrm>
            <a:off x="6099048" y="3310128"/>
            <a:ext cx="457200" cy="457200"/>
          </a:xfrm>
          <a:prstGeom prst="ellipse">
            <a:avLst/>
          </a:prstGeom>
          <a:solidFill>
            <a:srgbClr val="EAF4EF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9632" y="3410712"/>
            <a:ext cx="256032" cy="25603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099048" y="3886200"/>
            <a:ext cx="2606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A3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Nach der Stunde: Instanz verwerfen, nächstes Mal frisch importieren – immer identischer Zustand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E8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· EHRLICHKEIT MUSS SEIN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8138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A3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Die typischen Stolperstellen an Schulen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463040"/>
            <a:ext cx="3913632" cy="1207008"/>
          </a:xfrm>
          <a:prstGeom prst="roundRect">
            <a:avLst>
              <a:gd name="adj" fmla="val 5303"/>
            </a:avLst>
          </a:prstGeom>
          <a:solidFill>
            <a:srgbClr val="FBF6EC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4088" y="1645920"/>
            <a:ext cx="274320" cy="2743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124712" y="1591056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A3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Keine Admin-Rechte auf Dienstgeräten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1124712" y="1956816"/>
            <a:ext cx="3154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72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Installation läuft über IT-Administration / Softwareverteilung – das Klassen-Image ist Ihr Argument.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4727448" y="1463040"/>
            <a:ext cx="3913632" cy="1207008"/>
          </a:xfrm>
          <a:prstGeom prst="roundRect">
            <a:avLst>
              <a:gd name="adj" fmla="val 5303"/>
            </a:avLst>
          </a:prstGeom>
          <a:solidFill>
            <a:srgbClr val="FBF6EC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28616" y="1645920"/>
            <a:ext cx="274320" cy="27432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5349240" y="1591056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A3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Virtualisierung im BIOS deaktiviert</a:t>
            </a:r>
            <a:endParaRPr lang="en-US" sz="1350" dirty="0"/>
          </a:p>
        </p:txBody>
      </p:sp>
      <p:sp>
        <p:nvSpPr>
          <p:cNvPr id="11" name="Text 7"/>
          <p:cNvSpPr/>
          <p:nvPr/>
        </p:nvSpPr>
        <p:spPr>
          <a:xfrm>
            <a:off x="5349240" y="1956816"/>
            <a:ext cx="3154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72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 VT-x / AMD-V muss aktiv sein; Fehlermeldung erscheint erst beim ersten Start.</a:t>
            </a:r>
            <a:endParaRPr lang="en-US" sz="1100" dirty="0"/>
          </a:p>
        </p:txBody>
      </p:sp>
      <p:sp>
        <p:nvSpPr>
          <p:cNvPr id="12" name="Shape 8"/>
          <p:cNvSpPr/>
          <p:nvPr/>
        </p:nvSpPr>
        <p:spPr>
          <a:xfrm>
            <a:off x="502920" y="2834640"/>
            <a:ext cx="3913632" cy="1207008"/>
          </a:xfrm>
          <a:prstGeom prst="roundRect">
            <a:avLst>
              <a:gd name="adj" fmla="val 5303"/>
            </a:avLst>
          </a:prstGeom>
          <a:solidFill>
            <a:srgbClr val="FBF6EC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4088" y="3017520"/>
            <a:ext cx="274320" cy="27432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124712" y="2962656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A3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Gruppenrichtlinien &amp; AppLocker</a:t>
            </a:r>
            <a:endParaRPr lang="en-US" sz="1350" dirty="0"/>
          </a:p>
        </p:txBody>
      </p:sp>
      <p:sp>
        <p:nvSpPr>
          <p:cNvPr id="15" name="Text 10"/>
          <p:cNvSpPr/>
          <p:nvPr/>
        </p:nvSpPr>
        <p:spPr>
          <a:xfrm>
            <a:off x="1124712" y="3328416"/>
            <a:ext cx="3154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72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Manche Schulträger blockieren optionale Windows-Features – früh mit dem Dienstleister klären.</a:t>
            </a:r>
            <a:endParaRPr lang="en-US" sz="1100" dirty="0"/>
          </a:p>
        </p:txBody>
      </p:sp>
      <p:sp>
        <p:nvSpPr>
          <p:cNvPr id="16" name="Shape 11"/>
          <p:cNvSpPr/>
          <p:nvPr/>
        </p:nvSpPr>
        <p:spPr>
          <a:xfrm>
            <a:off x="4727448" y="2834640"/>
            <a:ext cx="3913632" cy="1207008"/>
          </a:xfrm>
          <a:prstGeom prst="roundRect">
            <a:avLst>
              <a:gd name="adj" fmla="val 5303"/>
            </a:avLst>
          </a:prstGeom>
          <a:solidFill>
            <a:srgbClr val="FBF6EC"/>
          </a:solidFill>
          <a:ln/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28616" y="3017520"/>
            <a:ext cx="274320" cy="27432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5349240" y="2962656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A3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Windows 10 ohne Support</a:t>
            </a:r>
            <a:endParaRPr lang="en-US" sz="1350" dirty="0"/>
          </a:p>
        </p:txBody>
      </p:sp>
      <p:sp>
        <p:nvSpPr>
          <p:cNvPr id="19" name="Text 13"/>
          <p:cNvSpPr/>
          <p:nvPr/>
        </p:nvSpPr>
        <p:spPr>
          <a:xfrm>
            <a:off x="5349240" y="3328416"/>
            <a:ext cx="3154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72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WSL2 läuft dort weiter, aber seit Okt. 2025 keine Sicherheitsupdates – Windows 11 einplanen.</a:t>
            </a:r>
            <a:endParaRPr lang="en-US" sz="1100" dirty="0"/>
          </a:p>
        </p:txBody>
      </p:sp>
      <p:sp>
        <p:nvSpPr>
          <p:cNvPr id="20" name="Text 14"/>
          <p:cNvSpPr/>
          <p:nvPr/>
        </p:nvSpPr>
        <p:spPr>
          <a:xfrm>
            <a:off x="502920" y="4343400"/>
            <a:ext cx="8138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8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 fürs Üben braucht es all das gar nicht: </a:t>
            </a:r>
            <a:pPr indent="0" marL="0">
              <a:buNone/>
            </a:pPr>
            <a:r>
              <a:rPr lang="en-US" sz="1400" dirty="0">
                <a:solidFill>
                  <a:srgbClr val="2A3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Ein gemeinsamer Linux-Server im Netz genügt – gleich arbeiten Sie selbst auf einem.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218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640080"/>
            <a:ext cx="502920" cy="50292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2920" y="1371600"/>
            <a:ext cx="8138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Jetzt Sie.</a:t>
            </a:r>
            <a:endParaRPr lang="en-US" sz="4400" dirty="0"/>
          </a:p>
        </p:txBody>
      </p:sp>
      <p:sp>
        <p:nvSpPr>
          <p:cNvPr id="4" name="Text 1"/>
          <p:cNvSpPr/>
          <p:nvPr/>
        </p:nvSpPr>
        <p:spPr>
          <a:xfrm>
            <a:off x="502920" y="2240280"/>
            <a:ext cx="8138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35C8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SSH auf unseren Übungsserver – der Client steckt schon in Ihrem Windows</a:t>
            </a:r>
            <a:endParaRPr lang="en-US" sz="1700" dirty="0"/>
          </a:p>
        </p:txBody>
      </p:sp>
      <p:sp>
        <p:nvSpPr>
          <p:cNvPr id="5" name="Text 2"/>
          <p:cNvSpPr/>
          <p:nvPr/>
        </p:nvSpPr>
        <p:spPr>
          <a:xfrm>
            <a:off x="566928" y="29260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35C88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6" name="Text 3"/>
          <p:cNvSpPr/>
          <p:nvPr/>
        </p:nvSpPr>
        <p:spPr>
          <a:xfrm>
            <a:off x="1078992" y="2962656"/>
            <a:ext cx="5212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7E1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PowerShell öffnen – mehr braucht es nicht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566928" y="34930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35C88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1078992" y="3529584"/>
            <a:ext cx="5212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7E1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 der Team-Nummer anmelden – das Passwort bleibt unsichtbar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566928" y="40599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35C88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10" name="Text 7"/>
          <p:cNvSpPr/>
          <p:nvPr/>
        </p:nvSpPr>
        <p:spPr>
          <a:xfrm>
            <a:off x="1078992" y="4096512"/>
            <a:ext cx="5212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7E1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Zu zweit: eine Person tippt, eine liest vor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6126480" y="2697480"/>
            <a:ext cx="2560320" cy="1965960"/>
          </a:xfrm>
          <a:prstGeom prst="roundRect">
            <a:avLst>
              <a:gd name="adj" fmla="val 2791"/>
            </a:avLst>
          </a:prstGeom>
          <a:solidFill>
            <a:srgbClr val="1C242E"/>
          </a:solidFill>
          <a:ln/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254496" y="2807208"/>
            <a:ext cx="100584" cy="100584"/>
          </a:xfrm>
          <a:prstGeom prst="ellipse">
            <a:avLst/>
          </a:prstGeom>
          <a:solidFill>
            <a:srgbClr val="E9645A"/>
          </a:solidFill>
          <a:ln/>
        </p:spPr>
      </p:sp>
      <p:sp>
        <p:nvSpPr>
          <p:cNvPr id="13" name="Shape 10"/>
          <p:cNvSpPr/>
          <p:nvPr/>
        </p:nvSpPr>
        <p:spPr>
          <a:xfrm>
            <a:off x="6437376" y="2807208"/>
            <a:ext cx="100584" cy="100584"/>
          </a:xfrm>
          <a:prstGeom prst="ellipse">
            <a:avLst/>
          </a:prstGeom>
          <a:solidFill>
            <a:srgbClr val="F0B429"/>
          </a:solidFill>
          <a:ln/>
        </p:spPr>
      </p:sp>
      <p:sp>
        <p:nvSpPr>
          <p:cNvPr id="14" name="Shape 11"/>
          <p:cNvSpPr/>
          <p:nvPr/>
        </p:nvSpPr>
        <p:spPr>
          <a:xfrm>
            <a:off x="6620256" y="2807208"/>
            <a:ext cx="100584" cy="100584"/>
          </a:xfrm>
          <a:prstGeom prst="ellipse">
            <a:avLst/>
          </a:prstGeom>
          <a:solidFill>
            <a:srgbClr val="5ECC71"/>
          </a:solidFill>
          <a:ln/>
        </p:spPr>
      </p:sp>
      <p:sp>
        <p:nvSpPr>
          <p:cNvPr id="15" name="Text 12"/>
          <p:cNvSpPr/>
          <p:nvPr/>
        </p:nvSpPr>
        <p:spPr>
          <a:xfrm>
            <a:off x="6291072" y="3008376"/>
            <a:ext cx="2231136" cy="1545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68"/>
              </a:lnSpc>
              <a:buNone/>
            </a:pPr>
            <a:r>
              <a:rPr lang="en-US" sz="1150" dirty="0">
                <a:solidFill>
                  <a:srgbClr val="9AA7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PS C:\&gt; ssh \</a:t>
            </a:r>
            <a:endParaRPr lang="en-US" sz="1150" dirty="0"/>
          </a:p>
          <a:p>
            <a:pPr algn="l" indent="0" marL="0">
              <a:lnSpc>
                <a:spcPts val="1668"/>
              </a:lnSpc>
              <a:buNone/>
            </a:pPr>
            <a:r>
              <a:rPr lang="en-US" sz="1150" b="1" dirty="0">
                <a:solidFill>
                  <a:srgbClr val="35C88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user07@10.0.0.5</a:t>
            </a:r>
            <a:endParaRPr lang="en-US" sz="1150" dirty="0"/>
          </a:p>
          <a:p>
            <a:pPr algn="l" indent="0" marL="0">
              <a:lnSpc>
                <a:spcPts val="1668"/>
              </a:lnSpc>
              <a:buNone/>
            </a:pPr>
            <a:r>
              <a:rPr lang="en-US" sz="1150" dirty="0">
                <a:solidFill>
                  <a:srgbClr val="9AA7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password: ********</a:t>
            </a:r>
            <a:endParaRPr lang="en-US" sz="1150" dirty="0"/>
          </a:p>
          <a:p>
            <a:pPr algn="l" indent="0" marL="0">
              <a:lnSpc>
                <a:spcPts val="1668"/>
              </a:lnSpc>
              <a:buNone/>
            </a:pPr>
            <a:r>
              <a:rPr lang="en-US" sz="1150" b="1" dirty="0">
                <a:solidFill>
                  <a:srgbClr val="35C88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user07@srv:~$ _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E8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HANDS-ON I · MINUTE 25–37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8138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A3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Mini-Rallye: Orientierung im Dateisystem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0" y="1417320"/>
            <a:ext cx="3611880" cy="2651760"/>
          </a:xfrm>
          <a:prstGeom prst="roundRect">
            <a:avLst>
              <a:gd name="adj" fmla="val 2069"/>
            </a:avLst>
          </a:prstGeom>
          <a:solidFill>
            <a:srgbClr val="1C242E"/>
          </a:solidFill>
          <a:ln/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157216" y="1527048"/>
            <a:ext cx="100584" cy="100584"/>
          </a:xfrm>
          <a:prstGeom prst="ellipse">
            <a:avLst/>
          </a:prstGeom>
          <a:solidFill>
            <a:srgbClr val="E9645A"/>
          </a:solidFill>
          <a:ln/>
        </p:spPr>
      </p:sp>
      <p:sp>
        <p:nvSpPr>
          <p:cNvPr id="6" name="Shape 4"/>
          <p:cNvSpPr/>
          <p:nvPr/>
        </p:nvSpPr>
        <p:spPr>
          <a:xfrm>
            <a:off x="5340096" y="1527048"/>
            <a:ext cx="100584" cy="100584"/>
          </a:xfrm>
          <a:prstGeom prst="ellipse">
            <a:avLst/>
          </a:prstGeom>
          <a:solidFill>
            <a:srgbClr val="F0B429"/>
          </a:solidFill>
          <a:ln/>
        </p:spPr>
      </p:sp>
      <p:sp>
        <p:nvSpPr>
          <p:cNvPr id="7" name="Shape 5"/>
          <p:cNvSpPr/>
          <p:nvPr/>
        </p:nvSpPr>
        <p:spPr>
          <a:xfrm>
            <a:off x="5522976" y="1527048"/>
            <a:ext cx="100584" cy="100584"/>
          </a:xfrm>
          <a:prstGeom prst="ellipse">
            <a:avLst/>
          </a:prstGeom>
          <a:solidFill>
            <a:srgbClr val="5ECC71"/>
          </a:solidFill>
          <a:ln/>
        </p:spPr>
      </p:sp>
      <p:sp>
        <p:nvSpPr>
          <p:cNvPr id="8" name="Text 6"/>
          <p:cNvSpPr/>
          <p:nvPr/>
        </p:nvSpPr>
        <p:spPr>
          <a:xfrm>
            <a:off x="5193792" y="1728216"/>
            <a:ext cx="3282696" cy="22311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13"/>
              </a:lnSpc>
              <a:buNone/>
            </a:pPr>
            <a:r>
              <a:rPr lang="en-US" sz="1250" dirty="0">
                <a:solidFill>
                  <a:srgbClr val="35C88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pwd</a:t>
            </a:r>
            <a:endParaRPr lang="en-US" sz="1250" dirty="0"/>
          </a:p>
          <a:p>
            <a:pPr algn="l" indent="0" marL="0">
              <a:lnSpc>
                <a:spcPts val="1813"/>
              </a:lnSpc>
              <a:buNone/>
            </a:pPr>
            <a:r>
              <a:rPr lang="en-US" sz="1250" dirty="0">
                <a:solidFill>
                  <a:srgbClr val="D7E1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/home/zi</a:t>
            </a:r>
            <a:endParaRPr lang="en-US" sz="1250" dirty="0"/>
          </a:p>
          <a:p>
            <a:pPr algn="l" indent="0" marL="0">
              <a:lnSpc>
                <a:spcPts val="1813"/>
              </a:lnSpc>
              <a:buNone/>
            </a:pPr>
            <a:r>
              <a:rPr lang="en-US" sz="1250" dirty="0">
                <a:solidFill>
                  <a:srgbClr val="35C88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mkdir -p workshop/logs</a:t>
            </a:r>
            <a:endParaRPr lang="en-US" sz="1250" dirty="0"/>
          </a:p>
          <a:p>
            <a:pPr algn="l" indent="0" marL="0">
              <a:lnSpc>
                <a:spcPts val="1813"/>
              </a:lnSpc>
              <a:buNone/>
            </a:pPr>
            <a:r>
              <a:rPr lang="en-US" sz="1250" dirty="0">
                <a:solidFill>
                  <a:srgbClr val="35C88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cd workshop/logs</a:t>
            </a:r>
            <a:endParaRPr lang="en-US" sz="1250" dirty="0"/>
          </a:p>
          <a:p>
            <a:pPr algn="l" indent="0" marL="0">
              <a:lnSpc>
                <a:spcPts val="1813"/>
              </a:lnSpc>
              <a:buNone/>
            </a:pPr>
            <a:r>
              <a:rPr lang="en-US" sz="1250" dirty="0">
                <a:solidFill>
                  <a:srgbClr val="35C88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man ls</a:t>
            </a:r>
            <a:endParaRPr lang="en-US" sz="1250" dirty="0"/>
          </a:p>
          <a:p>
            <a:pPr algn="l" indent="0" marL="0">
              <a:lnSpc>
                <a:spcPts val="1813"/>
              </a:lnSpc>
              <a:buNone/>
            </a:pPr>
            <a:r>
              <a:rPr lang="en-US" sz="1250" dirty="0">
                <a:solidFill>
                  <a:srgbClr val="9AA7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-t  sort by time ...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02920" y="1581912"/>
            <a:ext cx="128016" cy="128016"/>
          </a:xfrm>
          <a:prstGeom prst="ellipse">
            <a:avLst/>
          </a:prstGeom>
          <a:solidFill>
            <a:srgbClr val="35C88E"/>
          </a:solidFill>
          <a:ln/>
        </p:spPr>
      </p:sp>
      <p:sp>
        <p:nvSpPr>
          <p:cNvPr id="10" name="Text 8"/>
          <p:cNvSpPr/>
          <p:nvPr/>
        </p:nvSpPr>
        <p:spPr>
          <a:xfrm>
            <a:off x="777240" y="1554480"/>
            <a:ext cx="4069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A3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Aufgaben auf dem Arbeitsblatt  –  </a:t>
            </a:r>
            <a:pPr indent="0" marL="0">
              <a:buNone/>
            </a:pPr>
            <a:r>
              <a:rPr lang="en-US" sz="1300" dirty="0">
                <a:solidFill>
                  <a:srgbClr val="6672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 bin ich, was liegt hier, Ordner bauen, Datei umbenennen, Handbuch lesen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02920" y="2478024"/>
            <a:ext cx="128016" cy="128016"/>
          </a:xfrm>
          <a:prstGeom prst="ellipse">
            <a:avLst/>
          </a:prstGeom>
          <a:solidFill>
            <a:srgbClr val="35C88E"/>
          </a:solidFill>
          <a:ln/>
        </p:spPr>
      </p:sp>
      <p:sp>
        <p:nvSpPr>
          <p:cNvPr id="12" name="Text 10"/>
          <p:cNvSpPr/>
          <p:nvPr/>
        </p:nvSpPr>
        <p:spPr>
          <a:xfrm>
            <a:off x="777240" y="2450592"/>
            <a:ext cx="4069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A3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Partnerarbeit „Pair Administration“  –  </a:t>
            </a:r>
            <a:pPr indent="0" marL="0">
              <a:buNone/>
            </a:pPr>
            <a:r>
              <a:rPr lang="en-US" sz="1300" dirty="0">
                <a:solidFill>
                  <a:srgbClr val="6672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eine Person tippt, die andere liest vor und kontrolliert – nach Teil A tauschen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02920" y="3374136"/>
            <a:ext cx="128016" cy="128016"/>
          </a:xfrm>
          <a:prstGeom prst="ellipse">
            <a:avLst/>
          </a:prstGeom>
          <a:solidFill>
            <a:srgbClr val="35C88E"/>
          </a:solidFill>
          <a:ln/>
        </p:spPr>
      </p:sp>
      <p:sp>
        <p:nvSpPr>
          <p:cNvPr id="14" name="Text 12"/>
          <p:cNvSpPr/>
          <p:nvPr/>
        </p:nvSpPr>
        <p:spPr>
          <a:xfrm>
            <a:off x="777240" y="3346704"/>
            <a:ext cx="4069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A3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Zwei Abkürzungen sofort mitnehmen  –  </a:t>
            </a:r>
            <a:pPr indent="0" marL="0">
              <a:buNone/>
            </a:pPr>
            <a:r>
              <a:rPr lang="en-US" sz="1300" dirty="0">
                <a:solidFill>
                  <a:srgbClr val="6672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 vervollständigt, ↑ holt den letzten Befehl zurück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02920" y="4297680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E8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Ziel-Zeit: 12 Minuten. </a:t>
            </a:r>
            <a:pPr indent="0" marL="0">
              <a:buNone/>
            </a:pPr>
            <a:r>
              <a:rPr lang="en-US" sz="1350" dirty="0">
                <a:solidFill>
                  <a:srgbClr val="2A3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Wer fertig ist, klärt die Zusatzfrage: Was bewirkt ls -lt – und wofür braucht das ein Admin?</a:t>
            </a:r>
            <a:endParaRPr lang="en-US" sz="13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E8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HANDS-ON II · MINUTE 37–49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8138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A3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Die Pipe: Fließband für Daten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600200"/>
            <a:ext cx="1691640" cy="960120"/>
          </a:xfrm>
          <a:prstGeom prst="roundRect">
            <a:avLst>
              <a:gd name="adj" fmla="val 7619"/>
            </a:avLst>
          </a:prstGeom>
          <a:solidFill>
            <a:srgbClr val="1C242E"/>
          </a:solidFill>
          <a:ln/>
          <a:effectLst>
            <a:outerShdw sx="100000" sy="100000" kx="0" ky="0" algn="bl" rotWithShape="0" blurRad="63500" dist="25400" dir="5400000">
              <a:srgbClr val="000000">
                <a:alpha val="2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02920" y="1700784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5C88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grep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02920" y="210312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filtern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212848" y="1664208"/>
            <a:ext cx="42062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E8C6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|</a:t>
            </a:r>
            <a:endParaRPr lang="en-US" sz="3000" dirty="0"/>
          </a:p>
        </p:txBody>
      </p:sp>
      <p:sp>
        <p:nvSpPr>
          <p:cNvPr id="8" name="Shape 6"/>
          <p:cNvSpPr/>
          <p:nvPr/>
        </p:nvSpPr>
        <p:spPr>
          <a:xfrm>
            <a:off x="2651760" y="1600200"/>
            <a:ext cx="1691640" cy="960120"/>
          </a:xfrm>
          <a:prstGeom prst="roundRect">
            <a:avLst>
              <a:gd name="adj" fmla="val 7619"/>
            </a:avLst>
          </a:prstGeom>
          <a:solidFill>
            <a:srgbClr val="1C242E"/>
          </a:solidFill>
          <a:ln/>
          <a:effectLst>
            <a:outerShdw sx="100000" sy="100000" kx="0" ky="0" algn="bl" rotWithShape="0" blurRad="63500" dist="25400" dir="5400000">
              <a:srgbClr val="000000">
                <a:alpha val="2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651760" y="1700784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5C88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cut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2651760" y="210312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ausschneiden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361688" y="1664208"/>
            <a:ext cx="42062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E8C6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|</a:t>
            </a:r>
            <a:endParaRPr lang="en-US" sz="3000" dirty="0"/>
          </a:p>
        </p:txBody>
      </p:sp>
      <p:sp>
        <p:nvSpPr>
          <p:cNvPr id="12" name="Shape 10"/>
          <p:cNvSpPr/>
          <p:nvPr/>
        </p:nvSpPr>
        <p:spPr>
          <a:xfrm>
            <a:off x="4800600" y="1600200"/>
            <a:ext cx="1691640" cy="960120"/>
          </a:xfrm>
          <a:prstGeom prst="roundRect">
            <a:avLst>
              <a:gd name="adj" fmla="val 7619"/>
            </a:avLst>
          </a:prstGeom>
          <a:solidFill>
            <a:srgbClr val="1C242E"/>
          </a:solidFill>
          <a:ln/>
          <a:effectLst>
            <a:outerShdw sx="100000" sy="100000" kx="0" ky="0" algn="bl" rotWithShape="0" blurRad="63500" dist="25400" dir="5400000">
              <a:srgbClr val="000000">
                <a:alpha val="2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00600" y="1700784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5C88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sort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800600" y="210312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sortieren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510528" y="1664208"/>
            <a:ext cx="42062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E8C6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|</a:t>
            </a:r>
            <a:endParaRPr lang="en-US" sz="3000" dirty="0"/>
          </a:p>
        </p:txBody>
      </p:sp>
      <p:sp>
        <p:nvSpPr>
          <p:cNvPr id="16" name="Shape 14"/>
          <p:cNvSpPr/>
          <p:nvPr/>
        </p:nvSpPr>
        <p:spPr>
          <a:xfrm>
            <a:off x="6949440" y="1600200"/>
            <a:ext cx="1691640" cy="960120"/>
          </a:xfrm>
          <a:prstGeom prst="roundRect">
            <a:avLst>
              <a:gd name="adj" fmla="val 7619"/>
            </a:avLst>
          </a:prstGeom>
          <a:solidFill>
            <a:srgbClr val="1C242E"/>
          </a:solidFill>
          <a:ln/>
          <a:effectLst>
            <a:outerShdw sx="100000" sy="100000" kx="0" ky="0" algn="bl" rotWithShape="0" blurRad="63500" dist="25400" dir="5400000">
              <a:srgbClr val="000000">
                <a:alpha val="2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949440" y="1700784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5C88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uniq -c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949440" y="210312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zählen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02920" y="2880360"/>
            <a:ext cx="8138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A3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Ein Zeichen, eine Idee: </a:t>
            </a:r>
            <a:pPr indent="0" marL="0">
              <a:buNone/>
            </a:pPr>
            <a:r>
              <a:rPr lang="en-US" sz="1400" dirty="0">
                <a:solidFill>
                  <a:srgbClr val="6672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Die Ausgabe des linken Befehls wird zur Eingabe des rechten. Kleine Werkzeuge, die je eine Sache gut können – kombiniert lösen sie fast alles. Das ist die Unix-Philosophie.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502920" y="3703320"/>
            <a:ext cx="8138160" cy="914400"/>
          </a:xfrm>
          <a:prstGeom prst="roundRect">
            <a:avLst>
              <a:gd name="adj" fmla="val 7000"/>
            </a:avLst>
          </a:prstGeom>
          <a:solidFill>
            <a:srgbClr val="EAF4EF"/>
          </a:solidFill>
          <a:ln/>
        </p:spPr>
      </p:sp>
      <p:sp>
        <p:nvSpPr>
          <p:cNvPr id="21" name="Text 19"/>
          <p:cNvSpPr/>
          <p:nvPr/>
        </p:nvSpPr>
        <p:spPr>
          <a:xfrm>
            <a:off x="731520" y="3822192"/>
            <a:ext cx="7680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8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Warum das für Ihre Schüler zählt: </a:t>
            </a:r>
            <a:pPr indent="0" marL="0">
              <a:buNone/>
            </a:pPr>
            <a:r>
              <a:rPr lang="en-US" sz="1300" dirty="0">
                <a:solidFill>
                  <a:srgbClr val="2A3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Dasselbe Prinzip steckt in jeder Log-Analyse, jedem Deployment-Skript und jeder Prüfungsaufgabe zur Shell – vom Anfänger-Einzeiler bis zur Profi-Kette skaliert es mit jedem Niveau.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E8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HANDS-ON II · DIE CHALLENGE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8138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A3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 Server-Krimi: Wer greift srv-schule01 an?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417320"/>
            <a:ext cx="8138160" cy="1325880"/>
          </a:xfrm>
          <a:prstGeom prst="roundRect">
            <a:avLst>
              <a:gd name="adj" fmla="val 4138"/>
            </a:avLst>
          </a:prstGeom>
          <a:solidFill>
            <a:srgbClr val="1C242E"/>
          </a:solidFill>
          <a:ln/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30936" y="1527048"/>
            <a:ext cx="100584" cy="100584"/>
          </a:xfrm>
          <a:prstGeom prst="ellipse">
            <a:avLst/>
          </a:prstGeom>
          <a:solidFill>
            <a:srgbClr val="E9645A"/>
          </a:solidFill>
          <a:ln/>
        </p:spPr>
      </p:sp>
      <p:sp>
        <p:nvSpPr>
          <p:cNvPr id="6" name="Shape 4"/>
          <p:cNvSpPr/>
          <p:nvPr/>
        </p:nvSpPr>
        <p:spPr>
          <a:xfrm>
            <a:off x="813816" y="1527048"/>
            <a:ext cx="100584" cy="100584"/>
          </a:xfrm>
          <a:prstGeom prst="ellipse">
            <a:avLst/>
          </a:prstGeom>
          <a:solidFill>
            <a:srgbClr val="F0B429"/>
          </a:solidFill>
          <a:ln/>
        </p:spPr>
      </p:sp>
      <p:sp>
        <p:nvSpPr>
          <p:cNvPr id="7" name="Shape 5"/>
          <p:cNvSpPr/>
          <p:nvPr/>
        </p:nvSpPr>
        <p:spPr>
          <a:xfrm>
            <a:off x="996696" y="1527048"/>
            <a:ext cx="100584" cy="100584"/>
          </a:xfrm>
          <a:prstGeom prst="ellipse">
            <a:avLst/>
          </a:prstGeom>
          <a:solidFill>
            <a:srgbClr val="5ECC71"/>
          </a:solidFill>
          <a:ln/>
        </p:spPr>
      </p:sp>
      <p:sp>
        <p:nvSpPr>
          <p:cNvPr id="8" name="Text 6"/>
          <p:cNvSpPr/>
          <p:nvPr/>
        </p:nvSpPr>
        <p:spPr>
          <a:xfrm>
            <a:off x="667512" y="1728216"/>
            <a:ext cx="7808976" cy="9052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85"/>
              </a:lnSpc>
              <a:buNone/>
            </a:pPr>
            <a:r>
              <a:rPr lang="en-US" sz="1300" dirty="0">
                <a:solidFill>
                  <a:srgbClr val="35C88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cp /srv/workshop/server.log .</a:t>
            </a:r>
            <a:endParaRPr lang="en-US" sz="1300" dirty="0"/>
          </a:p>
          <a:p>
            <a:pPr algn="l" indent="0" marL="0">
              <a:lnSpc>
                <a:spcPts val="1885"/>
              </a:lnSpc>
              <a:buNone/>
            </a:pPr>
            <a:r>
              <a:rPr lang="en-US" sz="1300" dirty="0">
                <a:solidFill>
                  <a:srgbClr val="35C88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wc -l server.log</a:t>
            </a:r>
            <a:endParaRPr lang="en-US" sz="1300" dirty="0"/>
          </a:p>
          <a:p>
            <a:pPr algn="l" indent="0" marL="0">
              <a:lnSpc>
                <a:spcPts val="1885"/>
              </a:lnSpc>
              <a:buNone/>
            </a:pPr>
            <a:r>
              <a:rPr lang="en-US" sz="1300" dirty="0">
                <a:solidFill>
                  <a:srgbClr val="D7E1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210 server.log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02920" y="2971800"/>
            <a:ext cx="2606040" cy="1691640"/>
          </a:xfrm>
          <a:prstGeom prst="roundRect">
            <a:avLst>
              <a:gd name="adj" fmla="val 4324"/>
            </a:avLst>
          </a:prstGeom>
          <a:solidFill>
            <a:srgbClr val="EAF4EF"/>
          </a:solidFill>
          <a:ln/>
        </p:spPr>
      </p:sp>
      <p:sp>
        <p:nvSpPr>
          <p:cNvPr id="10" name="Shape 8"/>
          <p:cNvSpPr/>
          <p:nvPr/>
        </p:nvSpPr>
        <p:spPr>
          <a:xfrm>
            <a:off x="704088" y="3172968"/>
            <a:ext cx="457200" cy="45720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4672" y="3273552"/>
            <a:ext cx="256032" cy="256032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1280160" y="3218688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A3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Die Spurenlage</a:t>
            </a:r>
            <a:endParaRPr lang="en-US" sz="1350" dirty="0"/>
          </a:p>
        </p:txBody>
      </p:sp>
      <p:sp>
        <p:nvSpPr>
          <p:cNvPr id="13" name="Text 10"/>
          <p:cNvSpPr/>
          <p:nvPr/>
        </p:nvSpPr>
        <p:spPr>
          <a:xfrm>
            <a:off x="704088" y="3730752"/>
            <a:ext cx="2240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72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210 Log-Zeilen, irgendwo darin: ein Brute-Force-Angriff auf SSH.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3300984" y="2971800"/>
            <a:ext cx="2606040" cy="1691640"/>
          </a:xfrm>
          <a:prstGeom prst="roundRect">
            <a:avLst>
              <a:gd name="adj" fmla="val 4324"/>
            </a:avLst>
          </a:prstGeom>
          <a:solidFill>
            <a:srgbClr val="EAF4EF"/>
          </a:solidFill>
          <a:ln/>
        </p:spPr>
      </p:sp>
      <p:sp>
        <p:nvSpPr>
          <p:cNvPr id="15" name="Shape 12"/>
          <p:cNvSpPr/>
          <p:nvPr/>
        </p:nvSpPr>
        <p:spPr>
          <a:xfrm>
            <a:off x="3502152" y="3172968"/>
            <a:ext cx="457200" cy="45720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02736" y="3273552"/>
            <a:ext cx="256032" cy="256032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4078224" y="3218688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A3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Die Ermittlung</a:t>
            </a:r>
            <a:endParaRPr lang="en-US" sz="1350" dirty="0"/>
          </a:p>
        </p:txBody>
      </p:sp>
      <p:sp>
        <p:nvSpPr>
          <p:cNvPr id="18" name="Text 14"/>
          <p:cNvSpPr/>
          <p:nvPr/>
        </p:nvSpPr>
        <p:spPr>
          <a:xfrm>
            <a:off x="3502152" y="3730752"/>
            <a:ext cx="2240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72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Aufgaben vom einfachen Zählen bis zur Befehlskette – Arbeitsblatt Teil B.</a:t>
            </a:r>
            <a:endParaRPr lang="en-US" sz="1100" dirty="0"/>
          </a:p>
        </p:txBody>
      </p:sp>
      <p:sp>
        <p:nvSpPr>
          <p:cNvPr id="19" name="Shape 15"/>
          <p:cNvSpPr/>
          <p:nvPr/>
        </p:nvSpPr>
        <p:spPr>
          <a:xfrm>
            <a:off x="6099048" y="2971800"/>
            <a:ext cx="2606040" cy="1691640"/>
          </a:xfrm>
          <a:prstGeom prst="roundRect">
            <a:avLst>
              <a:gd name="adj" fmla="val 4324"/>
            </a:avLst>
          </a:prstGeom>
          <a:solidFill>
            <a:srgbClr val="EAF4EF"/>
          </a:solidFill>
          <a:ln/>
        </p:spPr>
      </p:sp>
      <p:sp>
        <p:nvSpPr>
          <p:cNvPr id="20" name="Shape 16"/>
          <p:cNvSpPr/>
          <p:nvPr/>
        </p:nvSpPr>
        <p:spPr>
          <a:xfrm>
            <a:off x="6300216" y="3172968"/>
            <a:ext cx="457200" cy="45720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3273552"/>
            <a:ext cx="256032" cy="256032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6876288" y="3218688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A3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Die Königsdisziplin</a:t>
            </a:r>
            <a:endParaRPr lang="en-US" sz="1350" dirty="0"/>
          </a:p>
        </p:txBody>
      </p:sp>
      <p:sp>
        <p:nvSpPr>
          <p:cNvPr id="23" name="Text 18"/>
          <p:cNvSpPr/>
          <p:nvPr/>
        </p:nvSpPr>
        <p:spPr>
          <a:xfrm>
            <a:off x="6300216" y="3730752"/>
            <a:ext cx="2240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72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Top-Liste der Angreifer-IPs in einer einzigen Zeile. Wer sie hat, ruft „Gefunden!“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E8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TRANSFER · MINUTE 49–55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8138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A3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Von hier in Ihren Unterricht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508760"/>
            <a:ext cx="2606040" cy="2286000"/>
          </a:xfrm>
          <a:prstGeom prst="roundRect">
            <a:avLst>
              <a:gd name="adj" fmla="val 3200"/>
            </a:avLst>
          </a:prstGeom>
          <a:solidFill>
            <a:srgbClr val="EAF4EF"/>
          </a:solidFill>
          <a:ln/>
        </p:spPr>
      </p:sp>
      <p:sp>
        <p:nvSpPr>
          <p:cNvPr id="5" name="Shape 3"/>
          <p:cNvSpPr/>
          <p:nvPr/>
        </p:nvSpPr>
        <p:spPr>
          <a:xfrm>
            <a:off x="704088" y="1737360"/>
            <a:ext cx="512064" cy="512064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856232"/>
            <a:ext cx="274320" cy="2743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04088" y="2377440"/>
            <a:ext cx="2240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A3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Heute erlebt: der Übungsserver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704088" y="2944368"/>
            <a:ext cx="2240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72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Ein Linux im Netz, 40 Konten, SSH – die Setup-Skripte dafür nehmen Sie fertig mit.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3300984" y="1508760"/>
            <a:ext cx="2606040" cy="2286000"/>
          </a:xfrm>
          <a:prstGeom prst="roundRect">
            <a:avLst>
              <a:gd name="adj" fmla="val 3200"/>
            </a:avLst>
          </a:prstGeom>
          <a:solidFill>
            <a:srgbClr val="EAF4EF"/>
          </a:solidFill>
          <a:ln/>
        </p:spPr>
      </p:sp>
      <p:sp>
        <p:nvSpPr>
          <p:cNvPr id="10" name="Shape 7"/>
          <p:cNvSpPr/>
          <p:nvPr/>
        </p:nvSpPr>
        <p:spPr>
          <a:xfrm>
            <a:off x="3502152" y="1737360"/>
            <a:ext cx="512064" cy="512064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21024" y="1856232"/>
            <a:ext cx="274320" cy="27432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502152" y="2377440"/>
            <a:ext cx="2240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A3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Morgen im Raum: WSL2</a:t>
            </a:r>
            <a:endParaRPr lang="en-US" sz="1350" dirty="0"/>
          </a:p>
        </p:txBody>
      </p:sp>
      <p:sp>
        <p:nvSpPr>
          <p:cNvPr id="13" name="Text 9"/>
          <p:cNvSpPr/>
          <p:nvPr/>
        </p:nvSpPr>
        <p:spPr>
          <a:xfrm>
            <a:off x="3502152" y="2944368"/>
            <a:ext cx="2240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72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Klassen-Image importieren, fertig. Persistente Umgebung für ganze Lernsituationen.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6099048" y="1508760"/>
            <a:ext cx="2606040" cy="2286000"/>
          </a:xfrm>
          <a:prstGeom prst="roundRect">
            <a:avLst>
              <a:gd name="adj" fmla="val 3200"/>
            </a:avLst>
          </a:prstGeom>
          <a:solidFill>
            <a:srgbClr val="EAF4EF"/>
          </a:solidFill>
          <a:ln/>
        </p:spPr>
      </p:sp>
      <p:sp>
        <p:nvSpPr>
          <p:cNvPr id="15" name="Shape 11"/>
          <p:cNvSpPr/>
          <p:nvPr/>
        </p:nvSpPr>
        <p:spPr>
          <a:xfrm>
            <a:off x="6300216" y="1737360"/>
            <a:ext cx="512064" cy="512064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19088" y="1856232"/>
            <a:ext cx="274320" cy="27432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300216" y="2377440"/>
            <a:ext cx="2240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A3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Material liegt bereit: LPI</a:t>
            </a:r>
            <a:endParaRPr lang="en-US" sz="1350" dirty="0"/>
          </a:p>
        </p:txBody>
      </p:sp>
      <p:sp>
        <p:nvSpPr>
          <p:cNvPr id="18" name="Text 13"/>
          <p:cNvSpPr/>
          <p:nvPr/>
        </p:nvSpPr>
        <p:spPr>
          <a:xfrm>
            <a:off x="6300216" y="2944368"/>
            <a:ext cx="2240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72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LPIC-1-Lernmaterialien: deutsch, kostenlos, mit Übungen samt Lösungen zu jeder Lektion.</a:t>
            </a:r>
            <a:endParaRPr lang="en-US" sz="1100" dirty="0"/>
          </a:p>
        </p:txBody>
      </p:sp>
      <p:sp>
        <p:nvSpPr>
          <p:cNvPr id="19" name="Text 14"/>
          <p:cNvSpPr/>
          <p:nvPr/>
        </p:nvSpPr>
        <p:spPr>
          <a:xfrm>
            <a:off x="502920" y="4069080"/>
            <a:ext cx="8138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8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Murmelrunde (2 Min.): </a:t>
            </a:r>
            <a:pPr indent="0" marL="0">
              <a:buNone/>
            </a:pPr>
            <a:r>
              <a:rPr lang="en-US" sz="1400" dirty="0">
                <a:solidFill>
                  <a:srgbClr val="2A3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 passt das in Ihren Bildungsgang – welches Lernfeld, welche Klasse, welche Woche? Besprechen Sie es mit Ihrem Sitznachbarn.</a:t>
            </a:r>
            <a:endParaRPr 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218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640080"/>
            <a:ext cx="548640" cy="54864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2920" y="1371600"/>
            <a:ext cx="8138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Nehmen Sie drei Dinge mit</a:t>
            </a:r>
            <a:endParaRPr lang="en-US" sz="3200" dirty="0"/>
          </a:p>
        </p:txBody>
      </p:sp>
      <p:sp>
        <p:nvSpPr>
          <p:cNvPr id="4" name="Text 1"/>
          <p:cNvSpPr/>
          <p:nvPr/>
        </p:nvSpPr>
        <p:spPr>
          <a:xfrm>
            <a:off x="566928" y="22402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5C88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1188720" y="228600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 Handout  –  </a:t>
            </a:r>
            <a:pPr indent="0" marL="0">
              <a:buNone/>
            </a:pPr>
            <a:r>
              <a:rPr lang="en-US" sz="1500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WSL2-Installation, Klassen-Image-Rezept, Stolperstellen, alle Links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566928" y="3017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5C88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600" dirty="0"/>
          </a:p>
        </p:txBody>
      </p:sp>
      <p:sp>
        <p:nvSpPr>
          <p:cNvPr id="7" name="Text 4"/>
          <p:cNvSpPr/>
          <p:nvPr/>
        </p:nvSpPr>
        <p:spPr>
          <a:xfrm>
            <a:off x="1188720" y="306324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Die Übungen  –  </a:t>
            </a:r>
            <a:pPr indent="0" marL="0">
              <a:buNone/>
            </a:pPr>
            <a:r>
              <a:rPr lang="en-US" sz="1500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Arbeitsblatt, server.log und Lösungen – direkt einsetzbar, frei anpassbar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566928" y="3794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5C88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600" dirty="0"/>
          </a:p>
        </p:txBody>
      </p:sp>
      <p:sp>
        <p:nvSpPr>
          <p:cNvPr id="9" name="Text 6"/>
          <p:cNvSpPr/>
          <p:nvPr/>
        </p:nvSpPr>
        <p:spPr>
          <a:xfrm>
            <a:off x="1188720" y="384048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Einen Vorsatz  –  </a:t>
            </a:r>
            <a:pPr indent="0" marL="0">
              <a:buNone/>
            </a:pPr>
            <a:r>
              <a:rPr lang="en-US" sz="1500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Exit-Ticket: Welche eine Sache probieren Sie nächste Woche aus?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502920" y="4617720"/>
            <a:ext cx="8138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5C8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learning.lpi.org/de  ·  learn.microsoft.com/de-de/windows/wsl  ·  Material: &lt;Link/QR&gt;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Linux unterrichten mit WSL2</dc:title>
  <dc:subject>PptxGenJS Presentation</dc:subject>
  <dc:creator>Workshop Regionaler Akademietag</dc:creator>
  <cp:lastModifiedBy>Workshop Regionaler Akademietag</cp:lastModifiedBy>
  <cp:revision>1</cp:revision>
  <dcterms:created xsi:type="dcterms:W3CDTF">2026-07-02T08:58:12Z</dcterms:created>
  <dcterms:modified xsi:type="dcterms:W3CDTF">2026-07-02T08:58:12Z</dcterms:modified>
</cp:coreProperties>
</file>