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emf" ContentType="image/x-emf"/>
  <Default Extension="fntdata" ContentType="application/x-fontdata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5143500" cy="9144000"/>
  <p:embeddedFontLst>
    <p:embeddedFont>
      <p:font typeface="Roboto" panose="02000000000000000000" pitchFamily="2" charset="0"/>
      <p:regular r:id="rIdF1"/>
      <p:bold r:id="rIdF2"/>
      <p:italic r:id="rIdF3"/>
      <p:boldItalic r:id="rIdF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F1" Type="http://schemas.openxmlformats.org/officeDocument/2006/relationships/font" Target="fonts/font1.fntdata"/><Relationship Id="rIdF2" Type="http://schemas.openxmlformats.org/officeDocument/2006/relationships/font" Target="fonts/font2.fntdata"/><Relationship Id="rIdF3" Type="http://schemas.openxmlformats.org/officeDocument/2006/relationships/font" Target="fonts/font3.fntdata"/><Relationship Id="rIdF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Ein Satz zur eigenen Person und Schule. Versprechen des Workshops formulieren: 'In 60 Minuten haben Sie selbst in einer Linux-Shell gearbeitet und wissen, wie Sie Linux in Ihren Windows-Computerraum bringen – ohne einen einzigen Rechner neu aufzusetzen.'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Blitzumfrage per Handzeichen durchführen: 1) Wer unterrichtet Linux-Inhalte oder müsste es laut Lehrplan? 2) Wer hat dafür geeignete Linux-Rechner? Die sichtbare Lücke zwischen beiden Handzeichen ist die Begründung des Workshops – darauf explizit hinweisen.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halten – maximal eine Minute. Wichtigste Botschaft: 'Sie schauen nicht nur zu – die Hälfte der Zeit arbeiten Sie selbst in einer Linux-Shell, per SSH aus der Windows-PowerShell heraus, ohne irgendetwas zu installieren.'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JETZT LIVE-DEMO STARTEN. Ablauf: 1) PowerShell als Admin zeigen, 'wsl --install' eintippen (wenn bereits installiert: den Befehl zeigen und erklären, dann direkt Ubuntu starten). 2) Ubuntu öffnen, 'uname -r' – der Kernel-Name mit 'microsoft' beweist: echtes Linux. 3) Abgrenzung zu Git Bash in einem Satz: dort gibt es kein apt, keine echten Prozesse, keine echten Rechte. SICHERHEITSNETZ: Screenshot-Serie/Video der Installation liegt bereit, falls WLAN oder Gerät streikt.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Beide Befehle live zeigen – das sind die beiden Momente, in denen erfahrungsgemäß die Stifte gezückt werden. Erst /mnt/c: eine Datei vom Windows-Desktop aus Linux heraus anzeigen (cat). Dann explorer.exe . – der 'Aha'-Moment, wenn der Explorer aufgeht. Kurz \\wsl$ in der Adresszeile erwähnen.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DIE Folie für die Schulleitung/IT-Abteilung. Kernbotschaft: Der Pflegeaufwand, der Linux-Räume bisher verhindert hat, verschwindet – eine tar-Datei ersetzt das Neuaufsetzen. Praxis-Tipp nennen: Standardbenutzer vor dem Export in /etc/wsl.conf festlegen, sonst startet die importierte Instanz als root. Details stehen im Handout – hier nicht vertiefen.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Folie nimmt die Einwände vorweg, bevor sie aus dem Publikum kommen – das schafft Glaubwürdigkeit. Zwischenfragen hier kurz zulassen, aber Detaildiskussionen (einzelne Schulträger-Policies) aufs Handout und die Pause verweisen. Überleitung: 'Und falls all das bei Ihnen zutrifft – es gibt einen Weg ganz ohne Installation. Den nehmen wir jetzt.'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CHECKPOINT-FOLIE – hier nicht weitergehen, bevor jedes Team einen Prompt hat. VORHER: setup-workshop.sh auf dem Übungsserver ausführen, echte IP-Adresse auf dieser Folie eintragen (Platzhalter 10.0.0.5), Zugangsdaten-Zettel je Team (user01–user40, Passwort akademieNN). Typische Hänger: Fingerprint-Frage (mit yes beantworten), Tippfehler in der IP, Firmen-Notebooks mit blockiertem Port 22 – dafür 1–2 Leihgeräte oder Teams mischen. Wer mit eigenem WSL2 arbeiten will: gern, gleiche Aufgaben. Arbeitsblätter jetzt austeilen.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stehen lassen und herumgehen – nicht vorne bleiben. Typische Hänger: Tippfehler (auf Tab-Vervollständigung verweisen), Groß-/Kleinschreibung, 'q' zum Verlassen von man. Nicht selbst tippen – höchstens den Partner tippen lassen. Nach ~10 Minuten Zwischenstand abfragen, nach 12 Minuten Aufgabe 4 und 6 kurz am Beamer auflösen.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Konzept-Folie (max. 2 Minuten), bevor die Challenge startet. Das Fließband einmal laut von links nach rechts vorlesen: filtere – schneide – sortiere – zähle. Betonen: sort muss vor uniq stehen, weil uniq nur Nachbarn vergleicht – das wird gleich der häufigste Fehler sein.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 starten, wieder herumgehen. Differenzierung läuft von selbst: Schwächere schaffen grep + wc, Stärkere bauen die volle Kette. Häufigster Fehler: falsche Feldnummer bei cut – bewusst NICHT sofort helfen, das Fehlerbild ist lehrreich. Auflösung nach ~10 Min live am Beamer: Einzeiler tippen, Ergebnis zeigen (203.0.113.42 mit 28 Versuchen), dann die Kette Wort für Wort vorlesen lassen. Lösungsblatt liegt bereit.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Bogen: Was die Lehrer heute am Übungsserver erlebt haben, ist exakt die Schülerperspektive – und den Server können sie mit den mitgegebenen Skripten (setup-workshop.sh) in Minuten selbst nachbauen, z. B. in einer WSL2-Instanz. Murmelrunde starten, danach 2–3 Stimmen einsammeln (verschiedene Berufe abfragen: FISI, FIAE, ITSE, kaufmännische IT-Berufe). LPI-Themen nennen: 103.1, 103.2, 103.4 waren die heutige Basis; 104.5 Dateirechte der logische nächste Schritt.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Exit-Ticket mündlich oder per Zettel/Padlet: 'Eine Sache, die ich nächste Woche ausprobiere.' 2–3 Antworten laut vorlesen lassen – das verankert Verbindlichkeit. Zum Schluss: Kontaktdaten nennen, Materiallink zeigen, für Fragen im Anschluss verfügbar bleiben. Danke!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- &amp; Unter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BDC343F-72B0-EDEC-BF3A-990505ACAB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0BF7C7DB-E9CA-B399-402F-4B6E930FE7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1600" y="4190400"/>
            <a:ext cx="10515600" cy="1414800"/>
          </a:xfrm>
        </p:spPr>
        <p:txBody>
          <a:bodyPr lIns="72000" tIns="36000" rIns="72000" bIns="36000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Einstieg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A8C46BE-CEE7-929D-10CA-4899288A1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800" y="1957674"/>
            <a:ext cx="10515600" cy="21211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Titel- &amp; Untertitelfolie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7FCB547-8C3F-453A-08D3-4C029E1064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92300" y="517036"/>
            <a:ext cx="3062100" cy="923603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2D14591-A2A8-7FC7-3EB3-865C25F922E7}"/>
              </a:ext>
            </a:extLst>
          </p:cNvPr>
          <p:cNvCxnSpPr>
            <a:cxnSpLocks/>
          </p:cNvCxnSpPr>
          <p:nvPr userDrawn="1"/>
        </p:nvCxnSpPr>
        <p:spPr>
          <a:xfrm>
            <a:off x="0" y="6800193"/>
            <a:ext cx="12192000" cy="0"/>
          </a:xfrm>
          <a:prstGeom prst="line">
            <a:avLst/>
          </a:prstGeom>
          <a:ln w="127000">
            <a:solidFill>
              <a:srgbClr val="FAE6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330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BDC343F-72B0-EDEC-BF3A-990505ACAB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0BF7C7DB-E9CA-B399-402F-4B6E930FE7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1600" y="4190400"/>
            <a:ext cx="5900593" cy="1414800"/>
          </a:xfrm>
        </p:spPr>
        <p:txBody>
          <a:bodyPr lIns="72000" tIns="36000" rIns="72000" bIns="36000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Textinhalte etc.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B6CAE3C-165D-6E15-9A97-2B5BF37DF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25628" b="29491"/>
          <a:stretch>
            <a:fillRect/>
          </a:stretch>
        </p:blipFill>
        <p:spPr>
          <a:xfrm>
            <a:off x="6411540" y="2593399"/>
            <a:ext cx="5780460" cy="4206794"/>
          </a:xfrm>
          <a:prstGeom prst="rect">
            <a:avLst/>
          </a:prstGeom>
        </p:spPr>
      </p:pic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F0326A2E-26ED-A62D-7E2F-2C7433566933}"/>
              </a:ext>
            </a:extLst>
          </p:cNvPr>
          <p:cNvCxnSpPr>
            <a:cxnSpLocks/>
          </p:cNvCxnSpPr>
          <p:nvPr userDrawn="1"/>
        </p:nvCxnSpPr>
        <p:spPr>
          <a:xfrm>
            <a:off x="0" y="6800193"/>
            <a:ext cx="12192000" cy="0"/>
          </a:xfrm>
          <a:prstGeom prst="line">
            <a:avLst/>
          </a:prstGeom>
          <a:ln w="127000">
            <a:solidFill>
              <a:srgbClr val="FAE6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el 5">
            <a:extLst>
              <a:ext uri="{FF2B5EF4-FFF2-40B4-BE49-F238E27FC236}">
                <a16:creationId xmlns:a16="http://schemas.microsoft.com/office/drawing/2014/main" id="{D8E8C8B7-76D5-496D-CE2B-7944FBB0F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800" y="1957674"/>
            <a:ext cx="8434075" cy="212112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Inhaltsfolie</a:t>
            </a:r>
          </a:p>
        </p:txBody>
      </p:sp>
    </p:spTree>
    <p:extLst>
      <p:ext uri="{BB962C8B-B14F-4D97-AF65-F5344CB8AC3E}">
        <p14:creationId xmlns:p14="http://schemas.microsoft.com/office/powerpoint/2010/main" val="2120241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Tex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A773C1-EA8C-120F-F1D4-E623899507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18000"/>
            <a:ext cx="5180400" cy="3787200"/>
          </a:xfrm>
        </p:spPr>
        <p:txBody>
          <a:bodyPr lIns="90000" tIns="46800" rIns="90000" bIns="4680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770F45-2D74-3159-6AC4-B8F2D89C0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442" y="6258016"/>
            <a:ext cx="806400" cy="365125"/>
          </a:xfrm>
        </p:spPr>
        <p:txBody>
          <a:bodyPr/>
          <a:lstStyle/>
          <a:p>
            <a:fld id="{B7E13D07-A954-7D45-9CFC-776D35F33DC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6B8ACB6-F06D-DFC1-43B3-6B9BC4D660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8550" y="1818000"/>
            <a:ext cx="5180400" cy="3787200"/>
          </a:xfrm>
        </p:spPr>
        <p:txBody>
          <a:bodyPr lIns="90000" tIns="46800" rIns="90000" bIns="46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0D888D36-3889-00BE-CACC-3F21AADD96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hier</a:t>
            </a:r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E4BACE39-468B-7F21-8A97-1FF7D8754D81}"/>
              </a:ext>
            </a:extLst>
          </p:cNvPr>
          <p:cNvCxnSpPr/>
          <p:nvPr userDrawn="1"/>
        </p:nvCxnSpPr>
        <p:spPr>
          <a:xfrm>
            <a:off x="0" y="6831723"/>
            <a:ext cx="12192000" cy="0"/>
          </a:xfrm>
          <a:prstGeom prst="line">
            <a:avLst/>
          </a:prstGeom>
          <a:ln w="63500">
            <a:solidFill>
              <a:srgbClr val="FAE6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ADBE4210-2677-8D59-2851-FA3A262167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89443" y="5819470"/>
            <a:ext cx="665655" cy="665655"/>
          </a:xfrm>
          <a:prstGeom prst="rect">
            <a:avLst/>
          </a:prstGeom>
        </p:spPr>
      </p:pic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A2F30055-0E6D-F929-7410-45345AABA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09615" y="6265040"/>
            <a:ext cx="97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6B4728B-49EC-AC4B-92D0-45D4091857E0}" type="datetime1">
              <a:rPr lang="de-DE" smtClean="0"/>
              <a:pPr/>
              <a:t>05.12.2025</a:t>
            </a:fld>
            <a:endParaRPr lang="de-DE"/>
          </a:p>
        </p:txBody>
      </p: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C9C71B0D-C4B5-1FCA-91B7-C0D1EF849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3742" y="6265039"/>
            <a:ext cx="4114800" cy="365125"/>
          </a:xfrm>
        </p:spPr>
        <p:txBody>
          <a:bodyPr/>
          <a:lstStyle/>
          <a:p>
            <a:r>
              <a:rPr lang="de-DE"/>
              <a:t>Fußzeile bearb. über „Einfügen &gt; Kopf- und Fußzeile“</a:t>
            </a:r>
          </a:p>
        </p:txBody>
      </p:sp>
    </p:spTree>
    <p:extLst>
      <p:ext uri="{BB962C8B-B14F-4D97-AF65-F5344CB8AC3E}">
        <p14:creationId xmlns:p14="http://schemas.microsoft.com/office/powerpoint/2010/main" val="2598515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28D334-4D11-362C-27E8-F8D312299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3742" y="6265039"/>
            <a:ext cx="4114800" cy="365125"/>
          </a:xfrm>
        </p:spPr>
        <p:txBody>
          <a:bodyPr/>
          <a:lstStyle/>
          <a:p>
            <a:r>
              <a:rPr lang="de-DE"/>
              <a:t>Fußzeile bearb. über „Einfügen &gt; Kopf- und Fußzeile“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57E85784-07C7-E131-BB93-1587BA129A5B}"/>
              </a:ext>
            </a:extLst>
          </p:cNvPr>
          <p:cNvCxnSpPr/>
          <p:nvPr userDrawn="1"/>
        </p:nvCxnSpPr>
        <p:spPr>
          <a:xfrm>
            <a:off x="0" y="6831723"/>
            <a:ext cx="12192000" cy="0"/>
          </a:xfrm>
          <a:prstGeom prst="line">
            <a:avLst/>
          </a:prstGeom>
          <a:ln w="63500">
            <a:solidFill>
              <a:srgbClr val="FAE6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427D472F-8494-CF8C-D2DF-A11315AF19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89443" y="5819470"/>
            <a:ext cx="665655" cy="665655"/>
          </a:xfrm>
          <a:prstGeom prst="rect">
            <a:avLst/>
          </a:prstGeom>
        </p:spPr>
      </p:pic>
      <p:sp>
        <p:nvSpPr>
          <p:cNvPr id="4" name="Inhaltsplatzhalter 4">
            <a:extLst>
              <a:ext uri="{FF2B5EF4-FFF2-40B4-BE49-F238E27FC236}">
                <a16:creationId xmlns:a16="http://schemas.microsoft.com/office/drawing/2014/main" id="{27BDD994-59D2-9A4E-8264-E164C08DB13A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1818000"/>
            <a:ext cx="10520750" cy="37872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662DB78A-D2E4-BF7D-8EF9-7E912CF9C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9" name="Foliennummernplatzhalter 6">
            <a:extLst>
              <a:ext uri="{FF2B5EF4-FFF2-40B4-BE49-F238E27FC236}">
                <a16:creationId xmlns:a16="http://schemas.microsoft.com/office/drawing/2014/main" id="{ECC500E9-AB0F-D444-9389-CEAB52DB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442" y="6258016"/>
            <a:ext cx="806400" cy="365125"/>
          </a:xfrm>
        </p:spPr>
        <p:txBody>
          <a:bodyPr/>
          <a:lstStyle/>
          <a:p>
            <a:fld id="{B7E13D07-A954-7D45-9CFC-776D35F33DC4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59BD953E-0B23-1677-A923-2AC81684A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09615" y="6265040"/>
            <a:ext cx="97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6B4728B-49EC-AC4B-92D0-45D4091857E0}" type="datetime1">
              <a:rPr lang="de-DE" smtClean="0"/>
              <a:pPr/>
              <a:t>05.12.2025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996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D783FB-39D7-ABF7-16DE-8DB3E65EF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C5986A-5D8D-D2C4-9671-420CD5F93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12000" y="6120000"/>
            <a:ext cx="97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6B4728B-49EC-AC4B-92D0-45D4091857E0}" type="datetime1">
              <a:rPr lang="de-DE" smtClean="0"/>
              <a:pPr/>
              <a:t>05.12.2025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93E0F8-1D03-C1B4-4453-1506268BA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56000" y="612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Fußzeile bearb. über „Einfügen &gt; Kopf- und Fußzeile“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6D5A66-E4DE-B187-1897-965666ED7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120000"/>
            <a:ext cx="80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B7E13D07-A954-7D45-9CFC-776D35F33DC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itelplatzhalter 8">
            <a:extLst>
              <a:ext uri="{FF2B5EF4-FFF2-40B4-BE49-F238E27FC236}">
                <a16:creationId xmlns:a16="http://schemas.microsoft.com/office/drawing/2014/main" id="{8ECFFDB3-11A5-1EF7-FF69-1CA10E04E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 dirty="0" err="1"/>
              <a:t>MMBbS</a:t>
            </a:r>
            <a:r>
              <a:rPr lang="de-DE" dirty="0"/>
              <a:t> </a:t>
            </a:r>
            <a:r>
              <a:rPr lang="de-DE" dirty="0" err="1"/>
              <a:t>Powerpoint</a:t>
            </a:r>
            <a:r>
              <a:rPr lang="de-DE" dirty="0"/>
              <a:t> Vorlage</a:t>
            </a:r>
          </a:p>
        </p:txBody>
      </p:sp>
    </p:spTree>
    <p:extLst>
      <p:ext uri="{BB962C8B-B14F-4D97-AF65-F5344CB8AC3E}">
        <p14:creationId xmlns:p14="http://schemas.microsoft.com/office/powerpoint/2010/main" val="181058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0" r:id="rId2"/>
    <p:sldLayoutId id="2147483661" r:id="rId3"/>
    <p:sldLayoutId id="2147483651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cap="none" spc="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27520" y="1752600"/>
            <a:ext cx="4693920" cy="2743200"/>
          </a:xfrm>
          <a:prstGeom prst="roundRect">
            <a:avLst>
              <a:gd name="adj" fmla="val 1935"/>
            </a:avLst>
          </a:prstGeom>
          <a:solidFill>
            <a:srgbClr val="1E1E1E"/>
          </a:solidFill>
          <a:ln/>
          <a:effectLst>
            <a:outerShdw sx="100000" sy="100000" kx="0" ky="0" algn="bl" rotWithShape="0" blurRad="135467" dist="50800" dir="5400000">
              <a:srgbClr val="0000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998208" y="1898904"/>
            <a:ext cx="134112" cy="134112"/>
          </a:xfrm>
          <a:prstGeom prst="ellipse">
            <a:avLst/>
          </a:prstGeom>
          <a:solidFill>
            <a:srgbClr val="E9645A"/>
          </a:solidFill>
          <a:ln/>
        </p:spPr>
      </p:sp>
      <p:sp>
        <p:nvSpPr>
          <p:cNvPr id="4" name="Shape 2"/>
          <p:cNvSpPr/>
          <p:nvPr/>
        </p:nvSpPr>
        <p:spPr>
          <a:xfrm>
            <a:off x="7242048" y="1898904"/>
            <a:ext cx="134112" cy="134112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5" name="Shape 3"/>
          <p:cNvSpPr/>
          <p:nvPr/>
        </p:nvSpPr>
        <p:spPr>
          <a:xfrm>
            <a:off x="7485888" y="1898904"/>
            <a:ext cx="134112" cy="134112"/>
          </a:xfrm>
          <a:prstGeom prst="ellipse">
            <a:avLst/>
          </a:prstGeom>
          <a:solidFill>
            <a:srgbClr val="5ECC71"/>
          </a:solidFill>
          <a:ln/>
        </p:spPr>
      </p:sp>
      <p:sp>
        <p:nvSpPr>
          <p:cNvPr id="6" name="Text 4"/>
          <p:cNvSpPr/>
          <p:nvPr/>
        </p:nvSpPr>
        <p:spPr>
          <a:xfrm>
            <a:off x="7046976" y="2167128"/>
            <a:ext cx="42550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7"/>
              </a:lnSpc>
              <a:buNone/>
            </a:pPr>
            <a:r>
              <a:rPr lang="en-US" sz="1867" dirty="0">
                <a:solidFill>
                  <a:srgbClr val="BAD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C:\&gt; wsl --install</a:t>
            </a:r>
            <a:endParaRPr lang="en-US" sz="1867" dirty="0"/>
          </a:p>
          <a:p>
            <a:pPr algn="l" indent="0" marL="0">
              <a:lnSpc>
                <a:spcPts val="2707"/>
              </a:lnSpc>
              <a:buNone/>
            </a:pPr>
            <a:r>
              <a:rPr lang="en-US" sz="1867" dirty="0">
                <a:solidFill>
                  <a:srgbClr val="BAD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wird installiert ...</a:t>
            </a:r>
            <a:endParaRPr lang="en-US" sz="1867" dirty="0"/>
          </a:p>
          <a:p>
            <a:pPr algn="l" indent="0" marL="0">
              <a:lnSpc>
                <a:spcPts val="2707"/>
              </a:lnSpc>
              <a:buNone/>
            </a:pPr>
            <a:endParaRPr lang="en-US" sz="1867" dirty="0"/>
          </a:p>
          <a:p>
            <a:pPr algn="l" indent="0" marL="0">
              <a:lnSpc>
                <a:spcPts val="2707"/>
              </a:lnSpc>
              <a:buNone/>
            </a:pPr>
            <a:r>
              <a:rPr lang="en-US" sz="1867" b="1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zi@PC:~$ _</a:t>
            </a:r>
            <a:endParaRPr lang="en-US" sz="1867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792480" cy="792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0560" y="2011680"/>
            <a:ext cx="5974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Linux unterrichten – auf Windows-Rechnern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670560" y="39624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AE5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WSL2 im Schulkontext: Ein Weg für alle IT-Berufe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70560" y="5913120"/>
            <a:ext cx="1085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Workshop · Regionaler Akademietag der Cisco Networking Academy · 60 Minuten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atumsplatzhalter 900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6B4728B-49EC-AC4B-92D0-45D4091857E0}" type="datetime1">
              <a:rPr lang="de-DE"/>
              <a:pPr/>
              <a:t>28.10.2026</a:t>
            </a:fld>
            <a:endParaRPr lang="de-DE"/>
          </a:p>
        </p:txBody>
      </p:sp>
      <p:sp>
        <p:nvSpPr>
          <p:cNvPr id="9002" name="Foliennummernplatzhalter 900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3D07-A954-7D45-9CFC-776D35F33DC4}" type="slidenum">
              <a:rPr lang="de-DE"/>
              <a:t>2</a:t>
            </a:fld>
            <a:endParaRPr lang="de-DE"/>
          </a:p>
        </p:txBody>
      </p:sp>
      <p:sp>
        <p:nvSpPr>
          <p:cNvPr id="2" name="Shape 0"/>
          <p:cNvSpPr/>
          <p:nvPr/>
        </p:nvSpPr>
        <p:spPr>
          <a:xfrm>
            <a:off x="670560" y="438912"/>
            <a:ext cx="158496" cy="158496"/>
          </a:xfrm>
          <a:prstGeom prst="rect">
            <a:avLst/>
          </a:prstGeom>
          <a:solidFill>
            <a:srgbClr val="FAE55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901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EINSTIEG · MINUTE 0–5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0560" y="755904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 Dilemma jedes IT-Bildungsgangs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70560" y="1988820"/>
            <a:ext cx="5218176" cy="2578608"/>
          </a:xfrm>
          <a:prstGeom prst="roundRect">
            <a:avLst>
              <a:gd name="adj" fmla="val 3404"/>
            </a:avLst>
          </a:prstGeom>
          <a:solidFill>
            <a:srgbClr val="E4F1FB"/>
          </a:solidFill>
          <a:ln/>
        </p:spPr>
      </p:sp>
      <p:sp>
        <p:nvSpPr>
          <p:cNvPr id="7" name="Shape 5"/>
          <p:cNvSpPr/>
          <p:nvPr/>
        </p:nvSpPr>
        <p:spPr>
          <a:xfrm>
            <a:off x="1011936" y="2280209"/>
            <a:ext cx="755904" cy="7559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438705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11936" y="3162909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33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Lehrpläne verlangen Linux</a:t>
            </a:r>
            <a:endParaRPr lang="en-US" sz="2133" dirty="0"/>
          </a:p>
        </p:txBody>
      </p:sp>
      <p:sp>
        <p:nvSpPr>
          <p:cNvPr id="10" name="Text 7"/>
          <p:cNvSpPr/>
          <p:nvPr/>
        </p:nvSpPr>
        <p:spPr>
          <a:xfrm>
            <a:off x="1011936" y="3601821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Server, Cloud, Container, Netzwerktechnik, Abschlussprüfungen – überall Linux-Kommandozeile. Quer durch alle IT-Berufe.</a:t>
            </a:r>
            <a:endParaRPr lang="en-US" sz="1667" dirty="0"/>
          </a:p>
        </p:txBody>
      </p:sp>
      <p:sp>
        <p:nvSpPr>
          <p:cNvPr id="11" name="Shape 8"/>
          <p:cNvSpPr/>
          <p:nvPr/>
        </p:nvSpPr>
        <p:spPr>
          <a:xfrm>
            <a:off x="6303264" y="1988820"/>
            <a:ext cx="5218176" cy="2578608"/>
          </a:xfrm>
          <a:prstGeom prst="roundRect">
            <a:avLst>
              <a:gd name="adj" fmla="val 3404"/>
            </a:avLst>
          </a:prstGeom>
          <a:solidFill>
            <a:srgbClr val="E4F1FB"/>
          </a:solidFill>
          <a:ln/>
        </p:spPr>
      </p:sp>
      <p:sp>
        <p:nvSpPr>
          <p:cNvPr id="12" name="Shape 9"/>
          <p:cNvSpPr/>
          <p:nvPr/>
        </p:nvSpPr>
        <p:spPr>
          <a:xfrm>
            <a:off x="6644640" y="2280209"/>
            <a:ext cx="755904" cy="7559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438705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44640" y="3162909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33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Schule hat Windows</a:t>
            </a:r>
            <a:endParaRPr lang="en-US" sz="2133" dirty="0"/>
          </a:p>
        </p:txBody>
      </p:sp>
      <p:sp>
        <p:nvSpPr>
          <p:cNvPr id="15" name="Text 11"/>
          <p:cNvSpPr/>
          <p:nvPr/>
        </p:nvSpPr>
        <p:spPr>
          <a:xfrm>
            <a:off x="6644640" y="3601821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Computerräume, Dienstgeräte, Softwareverteilung: Windows 10/11. Dual-Boot und eigene Linux-Räume sind Pflegemonster.</a:t>
            </a:r>
            <a:endParaRPr lang="en-US" sz="1667" dirty="0"/>
          </a:p>
        </p:txBody>
      </p:sp>
      <p:sp>
        <p:nvSpPr>
          <p:cNvPr id="16" name="Text 12"/>
          <p:cNvSpPr/>
          <p:nvPr/>
        </p:nvSpPr>
        <p:spPr>
          <a:xfrm>
            <a:off x="670560" y="4951476"/>
            <a:ext cx="979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67" b="1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Blitzumfrage: </a:t>
            </a:r>
            <a:pPr indent="0" marL="0">
              <a:buNone/>
            </a:pPr>
            <a:r>
              <a:rPr lang="en-US" sz="1867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Wer hat Linux-Inhalte im Lehrplan? Und wer hat dafür Linux-Rechner im Klassenraum? – Die Lücke dazwischen schließen wir heute.</a:t>
            </a:r>
            <a:endParaRPr lang="en-US" sz="186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atumsplatzhalter 900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6B4728B-49EC-AC4B-92D0-45D4091857E0}" type="datetime1">
              <a:rPr lang="de-DE"/>
              <a:pPr/>
              <a:t>28.10.2026</a:t>
            </a:fld>
            <a:endParaRPr lang="de-DE"/>
          </a:p>
        </p:txBody>
      </p:sp>
      <p:sp>
        <p:nvSpPr>
          <p:cNvPr id="9002" name="Foliennummernplatzhalter 900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3D07-A954-7D45-9CFC-776D35F33DC4}" type="slidenum">
              <a:rPr lang="de-DE"/>
              <a:t>3</a:t>
            </a:fld>
            <a:endParaRPr lang="de-DE"/>
          </a:p>
        </p:txBody>
      </p:sp>
      <p:sp>
        <p:nvSpPr>
          <p:cNvPr id="2" name="Shape 0"/>
          <p:cNvSpPr/>
          <p:nvPr/>
        </p:nvSpPr>
        <p:spPr>
          <a:xfrm>
            <a:off x="670560" y="438912"/>
            <a:ext cx="158496" cy="158496"/>
          </a:xfrm>
          <a:prstGeom prst="rect">
            <a:avLst/>
          </a:prstGeom>
          <a:solidFill>
            <a:srgbClr val="FAE55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901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FAHRPLAN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0560" y="755904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 Minuten, drei Stationen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70560" y="1955901"/>
            <a:ext cx="1158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33" b="1" dirty="0">
                <a:solidFill>
                  <a:srgbClr val="95416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5333" dirty="0"/>
          </a:p>
        </p:txBody>
      </p:sp>
      <p:sp>
        <p:nvSpPr>
          <p:cNvPr id="7" name="Text 5"/>
          <p:cNvSpPr/>
          <p:nvPr/>
        </p:nvSpPr>
        <p:spPr>
          <a:xfrm>
            <a:off x="2072640" y="2010765"/>
            <a:ext cx="3901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33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Sehen</a:t>
            </a:r>
            <a:endParaRPr lang="en-US" sz="2533" dirty="0"/>
          </a:p>
        </p:txBody>
      </p:sp>
      <p:sp>
        <p:nvSpPr>
          <p:cNvPr id="8" name="Text 6"/>
          <p:cNvSpPr/>
          <p:nvPr/>
        </p:nvSpPr>
        <p:spPr>
          <a:xfrm>
            <a:off x="2072640" y="2471623"/>
            <a:ext cx="755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Demo: WSL2 auf einem echten Windows-Rechner – vom Install-Befehl bis zum Klassen-Image</a:t>
            </a:r>
            <a:endParaRPr lang="en-US" sz="1667" dirty="0"/>
          </a:p>
        </p:txBody>
      </p:sp>
      <p:sp>
        <p:nvSpPr>
          <p:cNvPr id="9" name="Text 7"/>
          <p:cNvSpPr/>
          <p:nvPr/>
        </p:nvSpPr>
        <p:spPr>
          <a:xfrm>
            <a:off x="9936480" y="2043684"/>
            <a:ext cx="158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67" b="1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 Min.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670560" y="3184855"/>
            <a:ext cx="1158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33" b="1" dirty="0">
                <a:solidFill>
                  <a:srgbClr val="95416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5333" dirty="0"/>
          </a:p>
        </p:txBody>
      </p:sp>
      <p:sp>
        <p:nvSpPr>
          <p:cNvPr id="11" name="Text 9"/>
          <p:cNvSpPr/>
          <p:nvPr/>
        </p:nvSpPr>
        <p:spPr>
          <a:xfrm>
            <a:off x="2072640" y="3239719"/>
            <a:ext cx="3901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33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Selbst machen</a:t>
            </a:r>
            <a:endParaRPr lang="en-US" sz="2533" dirty="0"/>
          </a:p>
        </p:txBody>
      </p:sp>
      <p:sp>
        <p:nvSpPr>
          <p:cNvPr id="12" name="Text 10"/>
          <p:cNvSpPr/>
          <p:nvPr/>
        </p:nvSpPr>
        <p:spPr>
          <a:xfrm>
            <a:off x="2072640" y="3700576"/>
            <a:ext cx="755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 auf dem Übungsserver per SSH: Kommandozeilen-Rallye und der Server-Krimi mit Pipes</a:t>
            </a:r>
            <a:endParaRPr lang="en-US" sz="1667" dirty="0"/>
          </a:p>
        </p:txBody>
      </p:sp>
      <p:sp>
        <p:nvSpPr>
          <p:cNvPr id="13" name="Text 11"/>
          <p:cNvSpPr/>
          <p:nvPr/>
        </p:nvSpPr>
        <p:spPr>
          <a:xfrm>
            <a:off x="9936480" y="3272637"/>
            <a:ext cx="158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67" b="1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Min.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670560" y="4413808"/>
            <a:ext cx="1158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33" b="1" dirty="0">
                <a:solidFill>
                  <a:srgbClr val="95416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5333" dirty="0"/>
          </a:p>
        </p:txBody>
      </p:sp>
      <p:sp>
        <p:nvSpPr>
          <p:cNvPr id="15" name="Text 13"/>
          <p:cNvSpPr/>
          <p:nvPr/>
        </p:nvSpPr>
        <p:spPr>
          <a:xfrm>
            <a:off x="2072640" y="4468672"/>
            <a:ext cx="3901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33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Mitnehmen</a:t>
            </a:r>
            <a:endParaRPr lang="en-US" sz="2533" dirty="0"/>
          </a:p>
        </p:txBody>
      </p:sp>
      <p:sp>
        <p:nvSpPr>
          <p:cNvPr id="16" name="Text 14"/>
          <p:cNvSpPr/>
          <p:nvPr/>
        </p:nvSpPr>
        <p:spPr>
          <a:xfrm>
            <a:off x="2072640" y="4929530"/>
            <a:ext cx="755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Transfer in Ihren Unterricht: LPI-Materialien, Einsatzszenarien, Handout</a:t>
            </a:r>
            <a:endParaRPr lang="en-US" sz="1667" dirty="0"/>
          </a:p>
        </p:txBody>
      </p:sp>
      <p:sp>
        <p:nvSpPr>
          <p:cNvPr id="17" name="Text 15"/>
          <p:cNvSpPr/>
          <p:nvPr/>
        </p:nvSpPr>
        <p:spPr>
          <a:xfrm>
            <a:off x="9936480" y="4501591"/>
            <a:ext cx="158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67" b="1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Min.</a:t>
            </a:r>
            <a:endParaRPr lang="en-US" sz="186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atumsplatzhalter 900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6B4728B-49EC-AC4B-92D0-45D4091857E0}" type="datetime1">
              <a:rPr lang="de-DE"/>
              <a:pPr/>
              <a:t>28.10.2026</a:t>
            </a:fld>
            <a:endParaRPr lang="de-DE"/>
          </a:p>
        </p:txBody>
      </p:sp>
      <p:sp>
        <p:nvSpPr>
          <p:cNvPr id="9002" name="Foliennummernplatzhalter 900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3D07-A954-7D45-9CFC-776D35F33DC4}" type="slidenum">
              <a:rPr lang="de-DE"/>
              <a:t>4</a:t>
            </a:fld>
            <a:endParaRPr lang="de-DE"/>
          </a:p>
        </p:txBody>
      </p:sp>
      <p:sp>
        <p:nvSpPr>
          <p:cNvPr id="2" name="Shape 0"/>
          <p:cNvSpPr/>
          <p:nvPr/>
        </p:nvSpPr>
        <p:spPr>
          <a:xfrm>
            <a:off x="670560" y="438912"/>
            <a:ext cx="158496" cy="158496"/>
          </a:xfrm>
          <a:prstGeom prst="rect">
            <a:avLst/>
          </a:prstGeom>
          <a:solidFill>
            <a:srgbClr val="FAE55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901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 · MINUTE 5–20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0560" y="755904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WSL2: Ein echtes Linux, kein Imitat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522720" y="1879092"/>
            <a:ext cx="4998720" cy="3675888"/>
          </a:xfrm>
          <a:prstGeom prst="roundRect">
            <a:avLst>
              <a:gd name="adj" fmla="val 1791"/>
            </a:avLst>
          </a:prstGeom>
          <a:solidFill>
            <a:srgbClr val="1E1E1E"/>
          </a:solidFill>
          <a:ln/>
          <a:effectLst>
            <a:outerShdw sx="100000" sy="100000" kx="0" ky="0" algn="bl" rotWithShape="0" blurRad="135467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93408" y="2004060"/>
            <a:ext cx="134112" cy="134112"/>
          </a:xfrm>
          <a:prstGeom prst="ellipse">
            <a:avLst/>
          </a:prstGeom>
          <a:solidFill>
            <a:srgbClr val="E9645A"/>
          </a:solidFill>
          <a:ln/>
        </p:spPr>
      </p:sp>
      <p:sp>
        <p:nvSpPr>
          <p:cNvPr id="8" name="Shape 6"/>
          <p:cNvSpPr/>
          <p:nvPr/>
        </p:nvSpPr>
        <p:spPr>
          <a:xfrm>
            <a:off x="6937248" y="2004060"/>
            <a:ext cx="134112" cy="134112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9" name="Shape 7"/>
          <p:cNvSpPr/>
          <p:nvPr/>
        </p:nvSpPr>
        <p:spPr>
          <a:xfrm>
            <a:off x="7181088" y="2004060"/>
            <a:ext cx="134112" cy="134112"/>
          </a:xfrm>
          <a:prstGeom prst="ellipse">
            <a:avLst/>
          </a:prstGeom>
          <a:solidFill>
            <a:srgbClr val="5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6742176" y="2252167"/>
            <a:ext cx="4559808" cy="3171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7"/>
              </a:lnSpc>
              <a:buNone/>
            </a:pPr>
            <a:r>
              <a:rPr lang="en-US" sz="1667" dirty="0">
                <a:solidFill>
                  <a:srgbClr val="BAD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C:\&gt; wsl --install</a:t>
            </a:r>
            <a:endParaRPr lang="en-US" sz="1667" dirty="0"/>
          </a:p>
          <a:p>
            <a:pPr algn="l" indent="0" marL="0">
              <a:lnSpc>
                <a:spcPts val="2417"/>
              </a:lnSpc>
              <a:buNone/>
            </a:pPr>
            <a:endParaRPr lang="en-US" sz="1667" dirty="0"/>
          </a:p>
          <a:p>
            <a:pPr algn="l" indent="0" marL="0">
              <a:lnSpc>
                <a:spcPts val="2417"/>
              </a:lnSpc>
              <a:buNone/>
            </a:pPr>
            <a:r>
              <a:rPr lang="en-US" sz="1667" dirty="0">
                <a:solidFill>
                  <a:srgbClr val="BAD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Installation: Ubuntu ...</a:t>
            </a:r>
            <a:endParaRPr lang="en-US" sz="1667" dirty="0"/>
          </a:p>
          <a:p>
            <a:pPr algn="l" indent="0" marL="0">
              <a:lnSpc>
                <a:spcPts val="2417"/>
              </a:lnSpc>
              <a:buNone/>
            </a:pPr>
            <a:r>
              <a:rPr lang="en-US" sz="1667" dirty="0">
                <a:solidFill>
                  <a:srgbClr val="BAD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Neustart erforderlich.</a:t>
            </a:r>
            <a:endParaRPr lang="en-US" sz="1667" dirty="0"/>
          </a:p>
          <a:p>
            <a:pPr algn="l" indent="0" marL="0">
              <a:lnSpc>
                <a:spcPts val="2417"/>
              </a:lnSpc>
              <a:buNone/>
            </a:pPr>
            <a:endParaRPr lang="en-US" sz="1667" dirty="0"/>
          </a:p>
          <a:p>
            <a:pPr algn="l" indent="0" marL="0">
              <a:lnSpc>
                <a:spcPts val="2417"/>
              </a:lnSpc>
              <a:buNone/>
            </a:pPr>
            <a:r>
              <a:rPr lang="en-US" sz="1667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zi@PC:~$ uname -r</a:t>
            </a:r>
            <a:endParaRPr lang="en-US" sz="1667" dirty="0"/>
          </a:p>
          <a:p>
            <a:pPr algn="l" indent="0" marL="0">
              <a:lnSpc>
                <a:spcPts val="2417"/>
              </a:lnSpc>
              <a:buNone/>
            </a:pPr>
            <a:r>
              <a:rPr lang="en-US" sz="166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6.6.87.2-microsoft-standard-WSL2</a:t>
            </a:r>
            <a:endParaRPr lang="en-US" sz="1667" dirty="0"/>
          </a:p>
          <a:p>
            <a:pPr algn="l" indent="0" marL="0">
              <a:lnSpc>
                <a:spcPts val="2417"/>
              </a:lnSpc>
              <a:buNone/>
            </a:pPr>
            <a:r>
              <a:rPr lang="en-US" sz="1667" b="1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zi@PC:~$ _</a:t>
            </a:r>
            <a:endParaRPr lang="en-US" sz="1667" dirty="0"/>
          </a:p>
        </p:txBody>
      </p:sp>
      <p:sp>
        <p:nvSpPr>
          <p:cNvPr id="11" name="Shape 9"/>
          <p:cNvSpPr/>
          <p:nvPr/>
        </p:nvSpPr>
        <p:spPr>
          <a:xfrm>
            <a:off x="670560" y="1980286"/>
            <a:ext cx="170688" cy="170688"/>
          </a:xfrm>
          <a:prstGeom prst="ellipse">
            <a:avLst/>
          </a:prstGeom>
          <a:solidFill>
            <a:srgbClr val="14508D"/>
          </a:solidFill>
          <a:ln/>
        </p:spPr>
      </p:sp>
      <p:sp>
        <p:nvSpPr>
          <p:cNvPr id="12" name="Text 10"/>
          <p:cNvSpPr/>
          <p:nvPr/>
        </p:nvSpPr>
        <p:spPr>
          <a:xfrm>
            <a:off x="1036320" y="1955901"/>
            <a:ext cx="5242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7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Vollwertige, leichtgewichtige VM  </a:t>
            </a:r>
            <a:pPr indent="0" marL="0">
              <a:buNone/>
            </a:pPr>
            <a:r>
              <a:rPr lang="en-US" sz="16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echtem Linux-Kernel – kein Emulator, keine Nachbildung wie Git Bash</a:t>
            </a:r>
            <a:endParaRPr lang="en-US" sz="1667" dirty="0"/>
          </a:p>
        </p:txBody>
      </p:sp>
      <p:sp>
        <p:nvSpPr>
          <p:cNvPr id="13" name="Shape 11"/>
          <p:cNvSpPr/>
          <p:nvPr/>
        </p:nvSpPr>
        <p:spPr>
          <a:xfrm>
            <a:off x="670560" y="2891028"/>
            <a:ext cx="170688" cy="170688"/>
          </a:xfrm>
          <a:prstGeom prst="ellipse">
            <a:avLst/>
          </a:prstGeom>
          <a:solidFill>
            <a:srgbClr val="14508D"/>
          </a:solidFill>
          <a:ln/>
        </p:spPr>
      </p:sp>
      <p:sp>
        <p:nvSpPr>
          <p:cNvPr id="14" name="Text 12"/>
          <p:cNvSpPr/>
          <p:nvPr/>
        </p:nvSpPr>
        <p:spPr>
          <a:xfrm>
            <a:off x="1036320" y="2866644"/>
            <a:ext cx="5242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7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 Befehl, eine Kaffeepause  </a:t>
            </a:r>
            <a:pPr indent="0" marL="0">
              <a:buNone/>
            </a:pPr>
            <a:r>
              <a:rPr lang="en-US" sz="16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wsl --install richtet alles ein, inklusive Ubuntu</a:t>
            </a:r>
            <a:endParaRPr lang="en-US" sz="1667" dirty="0"/>
          </a:p>
        </p:txBody>
      </p:sp>
      <p:sp>
        <p:nvSpPr>
          <p:cNvPr id="15" name="Shape 13"/>
          <p:cNvSpPr/>
          <p:nvPr/>
        </p:nvSpPr>
        <p:spPr>
          <a:xfrm>
            <a:off x="670560" y="3801770"/>
            <a:ext cx="170688" cy="170688"/>
          </a:xfrm>
          <a:prstGeom prst="ellipse">
            <a:avLst/>
          </a:prstGeom>
          <a:solidFill>
            <a:srgbClr val="14508D"/>
          </a:solidFill>
          <a:ln/>
        </p:spPr>
      </p:sp>
      <p:sp>
        <p:nvSpPr>
          <p:cNvPr id="16" name="Text 14"/>
          <p:cNvSpPr/>
          <p:nvPr/>
        </p:nvSpPr>
        <p:spPr>
          <a:xfrm>
            <a:off x="1036320" y="3777386"/>
            <a:ext cx="5242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7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Startet in Sekunden  </a:t>
            </a:r>
            <a:pPr indent="0" marL="0">
              <a:buNone/>
            </a:pPr>
            <a:r>
              <a:rPr lang="en-US" sz="16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fühlt sich an wie ein normales Programm, nicht wie eine virtuelle Maschine</a:t>
            </a:r>
            <a:endParaRPr lang="en-US" sz="1667" dirty="0"/>
          </a:p>
        </p:txBody>
      </p:sp>
      <p:sp>
        <p:nvSpPr>
          <p:cNvPr id="17" name="Shape 15"/>
          <p:cNvSpPr/>
          <p:nvPr/>
        </p:nvSpPr>
        <p:spPr>
          <a:xfrm>
            <a:off x="670560" y="4712513"/>
            <a:ext cx="170688" cy="170688"/>
          </a:xfrm>
          <a:prstGeom prst="ellipse">
            <a:avLst/>
          </a:prstGeom>
          <a:solidFill>
            <a:srgbClr val="14508D"/>
          </a:solidFill>
          <a:ln/>
        </p:spPr>
      </p:sp>
      <p:sp>
        <p:nvSpPr>
          <p:cNvPr id="18" name="Text 16"/>
          <p:cNvSpPr/>
          <p:nvPr/>
        </p:nvSpPr>
        <p:spPr>
          <a:xfrm>
            <a:off x="1036320" y="4688128"/>
            <a:ext cx="5242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7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Kostenlos &amp; offiziell  </a:t>
            </a:r>
            <a:pPr indent="0" marL="0">
              <a:buNone/>
            </a:pPr>
            <a:r>
              <a:rPr lang="en-US" sz="16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Bestandteil von Windows 10 (ab 2004) und Windows 11</a:t>
            </a:r>
            <a:endParaRPr lang="en-US" sz="16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atumsplatzhalter 900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6B4728B-49EC-AC4B-92D0-45D4091857E0}" type="datetime1">
              <a:rPr lang="de-DE"/>
              <a:pPr/>
              <a:t>28.10.2026</a:t>
            </a:fld>
            <a:endParaRPr lang="de-DE"/>
          </a:p>
        </p:txBody>
      </p:sp>
      <p:sp>
        <p:nvSpPr>
          <p:cNvPr id="9002" name="Foliennummernplatzhalter 900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3D07-A954-7D45-9CFC-776D35F33DC4}" type="slidenum">
              <a:rPr lang="de-DE"/>
              <a:t>5</a:t>
            </a:fld>
            <a:endParaRPr lang="de-DE"/>
          </a:p>
        </p:txBody>
      </p:sp>
      <p:sp>
        <p:nvSpPr>
          <p:cNvPr id="2" name="Shape 0"/>
          <p:cNvSpPr/>
          <p:nvPr/>
        </p:nvSpPr>
        <p:spPr>
          <a:xfrm>
            <a:off x="670560" y="438912"/>
            <a:ext cx="158496" cy="158496"/>
          </a:xfrm>
          <a:prstGeom prst="rect">
            <a:avLst/>
          </a:prstGeom>
          <a:solidFill>
            <a:srgbClr val="FAE55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901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 · LIVE AM BEAMER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0560" y="755904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Zwei Welten, eine Maschine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70560" y="1933956"/>
            <a:ext cx="5218176" cy="3017520"/>
          </a:xfrm>
          <a:prstGeom prst="roundRect">
            <a:avLst>
              <a:gd name="adj" fmla="val 2909"/>
            </a:avLst>
          </a:prstGeom>
          <a:solidFill>
            <a:srgbClr val="E4F1FB"/>
          </a:solidFill>
          <a:ln/>
        </p:spPr>
      </p:sp>
      <p:sp>
        <p:nvSpPr>
          <p:cNvPr id="7" name="Shape 5"/>
          <p:cNvSpPr/>
          <p:nvPr/>
        </p:nvSpPr>
        <p:spPr>
          <a:xfrm>
            <a:off x="1011936" y="2205838"/>
            <a:ext cx="707136" cy="7071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364333"/>
            <a:ext cx="390144" cy="3901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14144" y="235092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67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→ Linux</a:t>
            </a:r>
            <a:endParaRPr lang="en-US" sz="2267" dirty="0"/>
          </a:p>
        </p:txBody>
      </p:sp>
      <p:sp>
        <p:nvSpPr>
          <p:cNvPr id="10" name="Shape 7"/>
          <p:cNvSpPr/>
          <p:nvPr/>
        </p:nvSpPr>
        <p:spPr>
          <a:xfrm>
            <a:off x="1011936" y="3053181"/>
            <a:ext cx="4535424" cy="54864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/>
        </p:spPr>
      </p:sp>
      <p:sp>
        <p:nvSpPr>
          <p:cNvPr id="11" name="Text 8"/>
          <p:cNvSpPr/>
          <p:nvPr/>
        </p:nvSpPr>
        <p:spPr>
          <a:xfrm>
            <a:off x="1194816" y="3053181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7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/mnt/c/Users/zi/Desktop</a:t>
            </a:r>
            <a:endParaRPr lang="en-US" sz="1667" dirty="0"/>
          </a:p>
        </p:txBody>
      </p:sp>
      <p:sp>
        <p:nvSpPr>
          <p:cNvPr id="12" name="Text 9"/>
          <p:cNvSpPr/>
          <p:nvPr/>
        </p:nvSpPr>
        <p:spPr>
          <a:xfrm>
            <a:off x="1011936" y="3777386"/>
            <a:ext cx="45354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Alle Windows-Laufwerke sind im Linux-Dateibaum eingehängt – Unterrichtsmaterial liegt sofort bereit.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03264" y="1933956"/>
            <a:ext cx="5218176" cy="3017520"/>
          </a:xfrm>
          <a:prstGeom prst="roundRect">
            <a:avLst>
              <a:gd name="adj" fmla="val 2909"/>
            </a:avLst>
          </a:prstGeom>
          <a:solidFill>
            <a:srgbClr val="E4F1FB"/>
          </a:solidFill>
          <a:ln/>
        </p:spPr>
      </p:sp>
      <p:sp>
        <p:nvSpPr>
          <p:cNvPr id="14" name="Shape 11"/>
          <p:cNvSpPr/>
          <p:nvPr/>
        </p:nvSpPr>
        <p:spPr>
          <a:xfrm>
            <a:off x="6644640" y="2205838"/>
            <a:ext cx="707136" cy="7071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364333"/>
            <a:ext cx="390144" cy="3901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46848" y="235092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67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Linux → Windows</a:t>
            </a:r>
            <a:endParaRPr lang="en-US" sz="2267" dirty="0"/>
          </a:p>
        </p:txBody>
      </p:sp>
      <p:sp>
        <p:nvSpPr>
          <p:cNvPr id="17" name="Shape 13"/>
          <p:cNvSpPr/>
          <p:nvPr/>
        </p:nvSpPr>
        <p:spPr>
          <a:xfrm>
            <a:off x="6644640" y="3053181"/>
            <a:ext cx="4535424" cy="54864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/>
        </p:spPr>
      </p:sp>
      <p:sp>
        <p:nvSpPr>
          <p:cNvPr id="18" name="Text 14"/>
          <p:cNvSpPr/>
          <p:nvPr/>
        </p:nvSpPr>
        <p:spPr>
          <a:xfrm>
            <a:off x="6827520" y="3053181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7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explorer.exe .</a:t>
            </a:r>
            <a:endParaRPr lang="en-US" sz="1667" dirty="0"/>
          </a:p>
        </p:txBody>
      </p:sp>
      <p:sp>
        <p:nvSpPr>
          <p:cNvPr id="19" name="Text 15"/>
          <p:cNvSpPr/>
          <p:nvPr/>
        </p:nvSpPr>
        <p:spPr>
          <a:xfrm>
            <a:off x="6644640" y="3777386"/>
            <a:ext cx="45354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Öffnet das aktuelle Linux-Verzeichnis im Windows-Explorer. Auch VS Code verbindet sich direkt in die Distribution.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70560" y="5225796"/>
            <a:ext cx="979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67" b="1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Für den Unterricht heißt das: </a:t>
            </a:r>
            <a:pPr indent="0" marL="0">
              <a:buNone/>
            </a:pPr>
            <a:r>
              <a:rPr lang="en-US" sz="1867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kein Datei-Hin-und-Her, kein zweiter Rechner, keine Grenze zwischen Arbeitsblatt (Windows) und Übung (Linux).</a:t>
            </a:r>
            <a:endParaRPr lang="en-US" sz="186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atumsplatzhalter 900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6B4728B-49EC-AC4B-92D0-45D4091857E0}" type="datetime1">
              <a:rPr lang="de-DE"/>
              <a:pPr/>
              <a:t>28.10.2026</a:t>
            </a:fld>
            <a:endParaRPr lang="de-DE"/>
          </a:p>
        </p:txBody>
      </p:sp>
      <p:sp>
        <p:nvSpPr>
          <p:cNvPr id="9002" name="Foliennummernplatzhalter 900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3D07-A954-7D45-9CFC-776D35F33DC4}" type="slidenum">
              <a:rPr lang="de-DE"/>
              <a:t>6</a:t>
            </a:fld>
            <a:endParaRPr lang="de-DE"/>
          </a:p>
        </p:txBody>
      </p:sp>
      <p:sp>
        <p:nvSpPr>
          <p:cNvPr id="2" name="Shape 0"/>
          <p:cNvSpPr/>
          <p:nvPr/>
        </p:nvSpPr>
        <p:spPr>
          <a:xfrm>
            <a:off x="670560" y="438912"/>
            <a:ext cx="158496" cy="158496"/>
          </a:xfrm>
          <a:prstGeom prst="rect">
            <a:avLst/>
          </a:prstGeom>
          <a:solidFill>
            <a:srgbClr val="FAE55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901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 · DAS SCHUL-ARGUMENT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0560" y="755904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 Klassen-Image: 1 Umgebung, 30 Rechner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70560" y="1933956"/>
            <a:ext cx="10850880" cy="1920240"/>
          </a:xfrm>
          <a:prstGeom prst="roundRect">
            <a:avLst>
              <a:gd name="adj" fmla="val 3429"/>
            </a:avLst>
          </a:prstGeom>
          <a:solidFill>
            <a:srgbClr val="1E1E1E"/>
          </a:solidFill>
          <a:ln/>
          <a:effectLst>
            <a:outerShdw sx="100000" sy="100000" kx="0" ky="0" algn="bl" rotWithShape="0" blurRad="135467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058924"/>
            <a:ext cx="134112" cy="134112"/>
          </a:xfrm>
          <a:prstGeom prst="ellipse">
            <a:avLst/>
          </a:prstGeom>
          <a:solidFill>
            <a:srgbClr val="E9645A"/>
          </a:solidFill>
          <a:ln/>
        </p:spPr>
      </p:sp>
      <p:sp>
        <p:nvSpPr>
          <p:cNvPr id="8" name="Shape 6"/>
          <p:cNvSpPr/>
          <p:nvPr/>
        </p:nvSpPr>
        <p:spPr>
          <a:xfrm>
            <a:off x="1085088" y="2058924"/>
            <a:ext cx="134112" cy="134112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9" name="Shape 7"/>
          <p:cNvSpPr/>
          <p:nvPr/>
        </p:nvSpPr>
        <p:spPr>
          <a:xfrm>
            <a:off x="1328928" y="2058924"/>
            <a:ext cx="134112" cy="134112"/>
          </a:xfrm>
          <a:prstGeom prst="ellipse">
            <a:avLst/>
          </a:prstGeom>
          <a:solidFill>
            <a:srgbClr val="5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890016" y="2307031"/>
            <a:ext cx="10411968" cy="14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13"/>
              </a:lnSpc>
              <a:buNone/>
            </a:pPr>
            <a:r>
              <a:rPr lang="en-US" sz="1733" dirty="0">
                <a:solidFill>
                  <a:srgbClr val="BAD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Lehrer-PC: Muster-Instanz einfrieren</a:t>
            </a:r>
            <a:endParaRPr lang="en-US" sz="1733" dirty="0"/>
          </a:p>
          <a:p>
            <a:pPr algn="l" indent="0" marL="0">
              <a:lnSpc>
                <a:spcPts val="2513"/>
              </a:lnSpc>
              <a:buNone/>
            </a:pPr>
            <a:r>
              <a:rPr lang="en-US" sz="1733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wsl --export Ubuntu C:\Images\fisi-uebung.tar</a:t>
            </a:r>
            <a:endParaRPr lang="en-US" sz="1733" dirty="0"/>
          </a:p>
          <a:p>
            <a:pPr algn="l" indent="0" marL="0">
              <a:lnSpc>
                <a:spcPts val="2513"/>
              </a:lnSpc>
              <a:buNone/>
            </a:pPr>
            <a:r>
              <a:rPr lang="en-US" sz="1733" dirty="0">
                <a:solidFill>
                  <a:srgbClr val="BAD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Schüler-PC: identisch ausrollen</a:t>
            </a:r>
            <a:endParaRPr lang="en-US" sz="1733" dirty="0"/>
          </a:p>
          <a:p>
            <a:pPr algn="l" indent="0" marL="0">
              <a:lnSpc>
                <a:spcPts val="2513"/>
              </a:lnSpc>
              <a:buNone/>
            </a:pPr>
            <a:r>
              <a:rPr lang="en-US" sz="1733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wsl --import FISI-Uebung C:\WSL\fisi C:\Images\fisi-uebung.tar</a:t>
            </a:r>
            <a:endParaRPr lang="en-US" sz="1733" dirty="0"/>
          </a:p>
        </p:txBody>
      </p:sp>
      <p:sp>
        <p:nvSpPr>
          <p:cNvPr id="11" name="Shape 9"/>
          <p:cNvSpPr/>
          <p:nvPr/>
        </p:nvSpPr>
        <p:spPr>
          <a:xfrm>
            <a:off x="670560" y="4119982"/>
            <a:ext cx="609600" cy="609600"/>
          </a:xfrm>
          <a:prstGeom prst="ellipse">
            <a:avLst/>
          </a:prstGeom>
          <a:solidFill>
            <a:srgbClr val="E4F1F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4254094"/>
            <a:ext cx="341376" cy="3413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0560" y="4841748"/>
            <a:ext cx="34747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3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Einmal vorbereiten: Benutzer, Pakete, Übungsdateien, Startzustand der Lernsituation</a:t>
            </a:r>
            <a:endParaRPr lang="en-US" sz="1533" dirty="0"/>
          </a:p>
        </p:txBody>
      </p:sp>
      <p:sp>
        <p:nvSpPr>
          <p:cNvPr id="14" name="Shape 11"/>
          <p:cNvSpPr/>
          <p:nvPr/>
        </p:nvSpPr>
        <p:spPr>
          <a:xfrm>
            <a:off x="4401312" y="4119982"/>
            <a:ext cx="609600" cy="609600"/>
          </a:xfrm>
          <a:prstGeom prst="ellipse">
            <a:avLst/>
          </a:prstGeom>
          <a:solidFill>
            <a:srgbClr val="E4F1F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4254094"/>
            <a:ext cx="341376" cy="3413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01312" y="4841748"/>
            <a:ext cx="34747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3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Als eine Datei verteilen: Netzlaufwerk, USB oder Softwareverteilung</a:t>
            </a:r>
            <a:endParaRPr lang="en-US" sz="1533" dirty="0"/>
          </a:p>
        </p:txBody>
      </p:sp>
      <p:sp>
        <p:nvSpPr>
          <p:cNvPr id="17" name="Shape 13"/>
          <p:cNvSpPr/>
          <p:nvPr/>
        </p:nvSpPr>
        <p:spPr>
          <a:xfrm>
            <a:off x="8132064" y="4119982"/>
            <a:ext cx="609600" cy="609600"/>
          </a:xfrm>
          <a:prstGeom prst="ellipse">
            <a:avLst/>
          </a:prstGeom>
          <a:solidFill>
            <a:srgbClr val="E4F1F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4254094"/>
            <a:ext cx="341376" cy="3413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32064" y="4841748"/>
            <a:ext cx="34747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3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Nach der Stunde: Instanz verwerfen, nächstes Mal frisch importieren – immer identischer Zustand</a:t>
            </a:r>
            <a:endParaRPr lang="en-US" sz="15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atumsplatzhalter 900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6B4728B-49EC-AC4B-92D0-45D4091857E0}" type="datetime1">
              <a:rPr lang="de-DE"/>
              <a:pPr/>
              <a:t>28.10.2026</a:t>
            </a:fld>
            <a:endParaRPr lang="de-DE"/>
          </a:p>
        </p:txBody>
      </p:sp>
      <p:sp>
        <p:nvSpPr>
          <p:cNvPr id="9002" name="Foliennummernplatzhalter 900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3D07-A954-7D45-9CFC-776D35F33DC4}" type="slidenum">
              <a:rPr lang="de-DE"/>
              <a:t>7</a:t>
            </a:fld>
            <a:endParaRPr lang="de-DE"/>
          </a:p>
        </p:txBody>
      </p:sp>
      <p:sp>
        <p:nvSpPr>
          <p:cNvPr id="2" name="Shape 0"/>
          <p:cNvSpPr/>
          <p:nvPr/>
        </p:nvSpPr>
        <p:spPr>
          <a:xfrm>
            <a:off x="670560" y="438912"/>
            <a:ext cx="158496" cy="158496"/>
          </a:xfrm>
          <a:prstGeom prst="rect">
            <a:avLst/>
          </a:prstGeom>
          <a:solidFill>
            <a:srgbClr val="FAE55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901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 · EHRLICHKEIT MUSS SEIN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0560" y="755904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typischen Stolperstellen an Schulen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70560" y="1933956"/>
            <a:ext cx="5218176" cy="1448409"/>
          </a:xfrm>
          <a:prstGeom prst="roundRect">
            <a:avLst>
              <a:gd name="adj" fmla="val 5303"/>
            </a:avLst>
          </a:prstGeom>
          <a:solidFill>
            <a:srgbClr val="F4E6E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784" y="2135125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9616" y="2087575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Keine Admin-Rechte auf Dienstgeräten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99616" y="2526487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Installation läuft über IT-Administration / Softwareverteilung – das Klassen-Image ist Ihr Argument.</a:t>
            </a:r>
            <a:endParaRPr lang="en-US" sz="1467" dirty="0"/>
          </a:p>
        </p:txBody>
      </p:sp>
      <p:sp>
        <p:nvSpPr>
          <p:cNvPr id="10" name="Shape 7"/>
          <p:cNvSpPr/>
          <p:nvPr/>
        </p:nvSpPr>
        <p:spPr>
          <a:xfrm>
            <a:off x="6303264" y="1933956"/>
            <a:ext cx="5218176" cy="1448409"/>
          </a:xfrm>
          <a:prstGeom prst="roundRect">
            <a:avLst>
              <a:gd name="adj" fmla="val 5303"/>
            </a:avLst>
          </a:prstGeom>
          <a:solidFill>
            <a:srgbClr val="F4E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488" y="2135125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087575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Virtualisierung im BIOS deaktiviert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132320" y="2526487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 VT-x / AMD-V muss aktiv sein; Fehlermeldung erscheint erst beim ersten Start.</a:t>
            </a:r>
            <a:endParaRPr lang="en-US" sz="1467" dirty="0"/>
          </a:p>
        </p:txBody>
      </p:sp>
      <p:sp>
        <p:nvSpPr>
          <p:cNvPr id="14" name="Shape 10"/>
          <p:cNvSpPr/>
          <p:nvPr/>
        </p:nvSpPr>
        <p:spPr>
          <a:xfrm>
            <a:off x="670560" y="3579876"/>
            <a:ext cx="5218176" cy="1448409"/>
          </a:xfrm>
          <a:prstGeom prst="roundRect">
            <a:avLst>
              <a:gd name="adj" fmla="val 5303"/>
            </a:avLst>
          </a:prstGeom>
          <a:solidFill>
            <a:srgbClr val="F4E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784" y="3781045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99616" y="3733495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Gruppenrichtlinien &amp; AppLocker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499616" y="4172407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Manche Schulträger blockieren optionale Windows-Features – früh mit dem Dienstleister klären.</a:t>
            </a:r>
            <a:endParaRPr lang="en-US" sz="1467" dirty="0"/>
          </a:p>
        </p:txBody>
      </p:sp>
      <p:sp>
        <p:nvSpPr>
          <p:cNvPr id="18" name="Shape 13"/>
          <p:cNvSpPr/>
          <p:nvPr/>
        </p:nvSpPr>
        <p:spPr>
          <a:xfrm>
            <a:off x="6303264" y="3579876"/>
            <a:ext cx="5218176" cy="1448409"/>
          </a:xfrm>
          <a:prstGeom prst="roundRect">
            <a:avLst>
              <a:gd name="adj" fmla="val 5303"/>
            </a:avLst>
          </a:prstGeom>
          <a:solidFill>
            <a:srgbClr val="F4E6E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488" y="3781045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32320" y="3733495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10 ohne Support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7132320" y="4172407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WSL2 läuft dort weiter, aber seit Okt. 2025 keine Sicherheitsupdates – Windows 11 einplanen.</a:t>
            </a:r>
            <a:endParaRPr lang="en-US" sz="1467" dirty="0"/>
          </a:p>
        </p:txBody>
      </p:sp>
      <p:sp>
        <p:nvSpPr>
          <p:cNvPr id="22" name="Text 16"/>
          <p:cNvSpPr/>
          <p:nvPr/>
        </p:nvSpPr>
        <p:spPr>
          <a:xfrm>
            <a:off x="670560" y="5390388"/>
            <a:ext cx="979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67" b="1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 fürs Üben braucht es all das gar nicht: </a:t>
            </a:r>
            <a:pPr indent="0" marL="0">
              <a:buNone/>
            </a:pPr>
            <a:r>
              <a:rPr lang="en-US" sz="1867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 gemeinsamer Linux-Server im Netz genügt – gleich arbeiten Sie selbst auf einem.</a:t>
            </a:r>
            <a:endParaRPr lang="en-US" sz="186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53440"/>
            <a:ext cx="670560" cy="67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0560" y="1828800"/>
            <a:ext cx="1085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6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Jetzt Sie.</a:t>
            </a:r>
            <a:endParaRPr lang="en-US" sz="5867" dirty="0"/>
          </a:p>
        </p:txBody>
      </p:sp>
      <p:sp>
        <p:nvSpPr>
          <p:cNvPr id="4" name="Text 1"/>
          <p:cNvSpPr/>
          <p:nvPr/>
        </p:nvSpPr>
        <p:spPr>
          <a:xfrm>
            <a:off x="670560" y="2987040"/>
            <a:ext cx="10850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67" dirty="0">
                <a:solidFill>
                  <a:srgbClr val="FAE5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SSH auf unseren Übungsserver – der Client steckt schon in Ihrem Windows</a:t>
            </a:r>
            <a:endParaRPr lang="en-US" sz="2267" dirty="0"/>
          </a:p>
        </p:txBody>
      </p:sp>
      <p:sp>
        <p:nvSpPr>
          <p:cNvPr id="5" name="Text 2"/>
          <p:cNvSpPr/>
          <p:nvPr/>
        </p:nvSpPr>
        <p:spPr>
          <a:xfrm>
            <a:off x="755904" y="3901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FAE5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667" dirty="0"/>
          </a:p>
        </p:txBody>
      </p:sp>
      <p:sp>
        <p:nvSpPr>
          <p:cNvPr id="6" name="Text 3"/>
          <p:cNvSpPr/>
          <p:nvPr/>
        </p:nvSpPr>
        <p:spPr>
          <a:xfrm>
            <a:off x="1438656" y="395020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PowerShell öffnen – mehr braucht es nicht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55904" y="46573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FAE5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2667" dirty="0"/>
          </a:p>
        </p:txBody>
      </p:sp>
      <p:sp>
        <p:nvSpPr>
          <p:cNvPr id="8" name="Text 5"/>
          <p:cNvSpPr/>
          <p:nvPr/>
        </p:nvSpPr>
        <p:spPr>
          <a:xfrm>
            <a:off x="1438656" y="470611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der Team-Nummer anmelden – das Passwort bleibt unsichtbar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55904" y="5413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FAE5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2667" dirty="0"/>
          </a:p>
        </p:txBody>
      </p:sp>
      <p:sp>
        <p:nvSpPr>
          <p:cNvPr id="10" name="Text 7"/>
          <p:cNvSpPr/>
          <p:nvPr/>
        </p:nvSpPr>
        <p:spPr>
          <a:xfrm>
            <a:off x="1438656" y="546201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Zu zweit: eine Person tippt, eine liest vor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168640" y="3596640"/>
            <a:ext cx="3413760" cy="2621280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/>
          <a:effectLst>
            <a:outerShdw sx="100000" sy="100000" kx="0" ky="0" algn="bl" rotWithShape="0" blurRad="135467" dist="50800" dir="54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339328" y="3742944"/>
            <a:ext cx="134112" cy="134112"/>
          </a:xfrm>
          <a:prstGeom prst="ellipse">
            <a:avLst/>
          </a:prstGeom>
          <a:solidFill>
            <a:srgbClr val="E9645A"/>
          </a:solidFill>
          <a:ln/>
        </p:spPr>
      </p:sp>
      <p:sp>
        <p:nvSpPr>
          <p:cNvPr id="13" name="Shape 10"/>
          <p:cNvSpPr/>
          <p:nvPr/>
        </p:nvSpPr>
        <p:spPr>
          <a:xfrm>
            <a:off x="8583168" y="3742944"/>
            <a:ext cx="134112" cy="134112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4" name="Shape 11"/>
          <p:cNvSpPr/>
          <p:nvPr/>
        </p:nvSpPr>
        <p:spPr>
          <a:xfrm>
            <a:off x="8827008" y="3742944"/>
            <a:ext cx="134112" cy="134112"/>
          </a:xfrm>
          <a:prstGeom prst="ellipse">
            <a:avLst/>
          </a:prstGeom>
          <a:solidFill>
            <a:srgbClr val="5ECC71"/>
          </a:solidFill>
          <a:ln/>
        </p:spPr>
      </p:sp>
      <p:sp>
        <p:nvSpPr>
          <p:cNvPr id="15" name="Text 12"/>
          <p:cNvSpPr/>
          <p:nvPr/>
        </p:nvSpPr>
        <p:spPr>
          <a:xfrm>
            <a:off x="8388096" y="4011168"/>
            <a:ext cx="2974848" cy="2060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4"/>
              </a:lnSpc>
              <a:buNone/>
            </a:pPr>
            <a:r>
              <a:rPr lang="en-US" sz="1533" dirty="0">
                <a:solidFill>
                  <a:srgbClr val="BAD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C:\&gt; ssh \</a:t>
            </a:r>
            <a:endParaRPr lang="en-US" sz="1533" dirty="0"/>
          </a:p>
          <a:p>
            <a:pPr algn="l" indent="0" marL="0">
              <a:lnSpc>
                <a:spcPts val="2224"/>
              </a:lnSpc>
              <a:buNone/>
            </a:pPr>
            <a:r>
              <a:rPr lang="en-US" sz="1533" b="1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user07@10.0.0.5</a:t>
            </a:r>
            <a:endParaRPr lang="en-US" sz="1533" dirty="0"/>
          </a:p>
          <a:p>
            <a:pPr algn="l" indent="0" marL="0">
              <a:lnSpc>
                <a:spcPts val="2224"/>
              </a:lnSpc>
              <a:buNone/>
            </a:pPr>
            <a:r>
              <a:rPr lang="en-US" sz="1533" dirty="0">
                <a:solidFill>
                  <a:srgbClr val="BAD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********</a:t>
            </a:r>
            <a:endParaRPr lang="en-US" sz="1533" dirty="0"/>
          </a:p>
          <a:p>
            <a:pPr algn="l" indent="0" marL="0">
              <a:lnSpc>
                <a:spcPts val="2224"/>
              </a:lnSpc>
              <a:buNone/>
            </a:pPr>
            <a:r>
              <a:rPr lang="en-US" sz="1533" b="1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user07@srv:~$ _</a:t>
            </a:r>
            <a:endParaRPr lang="en-US" sz="153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atumsplatzhalter 900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6B4728B-49EC-AC4B-92D0-45D4091857E0}" type="datetime1">
              <a:rPr lang="de-DE"/>
              <a:pPr/>
              <a:t>28.10.2026</a:t>
            </a:fld>
            <a:endParaRPr lang="de-DE"/>
          </a:p>
        </p:txBody>
      </p:sp>
      <p:sp>
        <p:nvSpPr>
          <p:cNvPr id="9002" name="Foliennummernplatzhalter 900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3D07-A954-7D45-9CFC-776D35F33DC4}" type="slidenum">
              <a:rPr lang="de-DE"/>
              <a:t>9</a:t>
            </a:fld>
            <a:endParaRPr lang="de-DE"/>
          </a:p>
        </p:txBody>
      </p:sp>
      <p:sp>
        <p:nvSpPr>
          <p:cNvPr id="2" name="Shape 0"/>
          <p:cNvSpPr/>
          <p:nvPr/>
        </p:nvSpPr>
        <p:spPr>
          <a:xfrm>
            <a:off x="670560" y="438912"/>
            <a:ext cx="158496" cy="158496"/>
          </a:xfrm>
          <a:prstGeom prst="rect">
            <a:avLst/>
          </a:prstGeom>
          <a:solidFill>
            <a:srgbClr val="FAE55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901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 I · MINUTE 25–37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0560" y="755904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Mini-Rallye: Orientierung im Dateisystem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705600" y="1879092"/>
            <a:ext cx="4815840" cy="3182112"/>
          </a:xfrm>
          <a:prstGeom prst="roundRect">
            <a:avLst>
              <a:gd name="adj" fmla="val 2069"/>
            </a:avLst>
          </a:prstGeom>
          <a:solidFill>
            <a:srgbClr val="1E1E1E"/>
          </a:solidFill>
          <a:ln/>
          <a:effectLst>
            <a:outerShdw sx="100000" sy="100000" kx="0" ky="0" algn="bl" rotWithShape="0" blurRad="135467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76288" y="2004060"/>
            <a:ext cx="134112" cy="134112"/>
          </a:xfrm>
          <a:prstGeom prst="ellipse">
            <a:avLst/>
          </a:prstGeom>
          <a:solidFill>
            <a:srgbClr val="E9645A"/>
          </a:solidFill>
          <a:ln/>
        </p:spPr>
      </p:sp>
      <p:sp>
        <p:nvSpPr>
          <p:cNvPr id="8" name="Shape 6"/>
          <p:cNvSpPr/>
          <p:nvPr/>
        </p:nvSpPr>
        <p:spPr>
          <a:xfrm>
            <a:off x="7120128" y="2004060"/>
            <a:ext cx="134112" cy="134112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9" name="Shape 7"/>
          <p:cNvSpPr/>
          <p:nvPr/>
        </p:nvSpPr>
        <p:spPr>
          <a:xfrm>
            <a:off x="7363968" y="2004060"/>
            <a:ext cx="134112" cy="134112"/>
          </a:xfrm>
          <a:prstGeom prst="ellipse">
            <a:avLst/>
          </a:prstGeom>
          <a:solidFill>
            <a:srgbClr val="5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6925056" y="2252167"/>
            <a:ext cx="4376928" cy="2677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7"/>
              </a:lnSpc>
              <a:buNone/>
            </a:pPr>
            <a:r>
              <a:rPr lang="en-US" sz="1667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pwd</a:t>
            </a:r>
            <a:endParaRPr lang="en-US" sz="1667" dirty="0"/>
          </a:p>
          <a:p>
            <a:pPr algn="l" indent="0" marL="0">
              <a:lnSpc>
                <a:spcPts val="2417"/>
              </a:lnSpc>
              <a:buNone/>
            </a:pPr>
            <a:r>
              <a:rPr lang="en-US" sz="166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/home/user07</a:t>
            </a:r>
            <a:endParaRPr lang="en-US" sz="1667" dirty="0"/>
          </a:p>
          <a:p>
            <a:pPr algn="l" indent="0" marL="0">
              <a:lnSpc>
                <a:spcPts val="2417"/>
              </a:lnSpc>
              <a:buNone/>
            </a:pPr>
            <a:r>
              <a:rPr lang="en-US" sz="1667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-p workshop/logs</a:t>
            </a:r>
            <a:endParaRPr lang="en-US" sz="1667" dirty="0"/>
          </a:p>
          <a:p>
            <a:pPr algn="l" indent="0" marL="0">
              <a:lnSpc>
                <a:spcPts val="2417"/>
              </a:lnSpc>
              <a:buNone/>
            </a:pPr>
            <a:r>
              <a:rPr lang="en-US" sz="1667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workshop/logs</a:t>
            </a:r>
            <a:endParaRPr lang="en-US" sz="1667" dirty="0"/>
          </a:p>
          <a:p>
            <a:pPr algn="l" indent="0" marL="0">
              <a:lnSpc>
                <a:spcPts val="2417"/>
              </a:lnSpc>
              <a:buNone/>
            </a:pPr>
            <a:r>
              <a:rPr lang="en-US" sz="1667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man ls</a:t>
            </a:r>
            <a:endParaRPr lang="en-US" sz="1667" dirty="0"/>
          </a:p>
          <a:p>
            <a:pPr algn="l" indent="0" marL="0">
              <a:lnSpc>
                <a:spcPts val="2417"/>
              </a:lnSpc>
              <a:buNone/>
            </a:pPr>
            <a:r>
              <a:rPr lang="en-US" sz="1667" dirty="0">
                <a:solidFill>
                  <a:srgbClr val="BAD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-t  sort by time ...</a:t>
            </a:r>
            <a:endParaRPr lang="en-US" sz="1667" dirty="0"/>
          </a:p>
        </p:txBody>
      </p:sp>
      <p:sp>
        <p:nvSpPr>
          <p:cNvPr id="11" name="Shape 9"/>
          <p:cNvSpPr/>
          <p:nvPr/>
        </p:nvSpPr>
        <p:spPr>
          <a:xfrm>
            <a:off x="670560" y="2068068"/>
            <a:ext cx="170688" cy="170688"/>
          </a:xfrm>
          <a:prstGeom prst="ellipse">
            <a:avLst/>
          </a:prstGeom>
          <a:solidFill>
            <a:srgbClr val="14508D"/>
          </a:solidFill>
          <a:ln/>
        </p:spPr>
      </p:sp>
      <p:sp>
        <p:nvSpPr>
          <p:cNvPr id="12" name="Text 10"/>
          <p:cNvSpPr/>
          <p:nvPr/>
        </p:nvSpPr>
        <p:spPr>
          <a:xfrm>
            <a:off x="1036320" y="2043684"/>
            <a:ext cx="5425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Aufgaben auf dem Arbeitsblatt  –  </a:t>
            </a:r>
            <a:pPr indent="0" marL="0">
              <a:buNone/>
            </a:pPr>
            <a:r>
              <a:rPr lang="en-US" sz="1733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 bin ich, was liegt hier, Ordner bauen, Datei umbenennen, Handbuch lesen</a:t>
            </a:r>
            <a:endParaRPr lang="en-US" sz="1733" dirty="0"/>
          </a:p>
        </p:txBody>
      </p:sp>
      <p:sp>
        <p:nvSpPr>
          <p:cNvPr id="13" name="Shape 11"/>
          <p:cNvSpPr/>
          <p:nvPr/>
        </p:nvSpPr>
        <p:spPr>
          <a:xfrm>
            <a:off x="670560" y="3143402"/>
            <a:ext cx="170688" cy="170688"/>
          </a:xfrm>
          <a:prstGeom prst="ellipse">
            <a:avLst/>
          </a:prstGeom>
          <a:solidFill>
            <a:srgbClr val="14508D"/>
          </a:solidFill>
          <a:ln/>
        </p:spPr>
      </p:sp>
      <p:sp>
        <p:nvSpPr>
          <p:cNvPr id="14" name="Text 12"/>
          <p:cNvSpPr/>
          <p:nvPr/>
        </p:nvSpPr>
        <p:spPr>
          <a:xfrm>
            <a:off x="1036320" y="3119018"/>
            <a:ext cx="5425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Partnerarbeit „Pair Administration“  –  </a:t>
            </a:r>
            <a:pPr indent="0" marL="0">
              <a:buNone/>
            </a:pPr>
            <a:r>
              <a:rPr lang="en-US" sz="1733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eine Person tippt, die andere liest vor und kontrolliert – nach Teil A tauschen</a:t>
            </a:r>
            <a:endParaRPr lang="en-US" sz="1733" dirty="0"/>
          </a:p>
        </p:txBody>
      </p:sp>
      <p:sp>
        <p:nvSpPr>
          <p:cNvPr id="15" name="Shape 13"/>
          <p:cNvSpPr/>
          <p:nvPr/>
        </p:nvSpPr>
        <p:spPr>
          <a:xfrm>
            <a:off x="670560" y="4218737"/>
            <a:ext cx="170688" cy="170688"/>
          </a:xfrm>
          <a:prstGeom prst="ellipse">
            <a:avLst/>
          </a:prstGeom>
          <a:solidFill>
            <a:srgbClr val="14508D"/>
          </a:solidFill>
          <a:ln/>
        </p:spPr>
      </p:sp>
      <p:sp>
        <p:nvSpPr>
          <p:cNvPr id="16" name="Text 14"/>
          <p:cNvSpPr/>
          <p:nvPr/>
        </p:nvSpPr>
        <p:spPr>
          <a:xfrm>
            <a:off x="1036320" y="4194352"/>
            <a:ext cx="5425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Zwei Abkürzungen sofort mitnehmen  –  </a:t>
            </a:r>
            <a:pPr indent="0" marL="0">
              <a:buNone/>
            </a:pPr>
            <a:r>
              <a:rPr lang="en-US" sz="1733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 vervollständigt, ↑ holt den letzten Befehl zurück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670560" y="5335524"/>
            <a:ext cx="979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Ziel-Zeit: 12 Minuten. </a:t>
            </a:r>
            <a:pPr indent="0" marL="0">
              <a:buNone/>
            </a:pPr>
            <a:r>
              <a:rPr lang="en-US" sz="1800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Wer fertig ist, klärt die Zusatzfrage: Was bewirkt ls -lt – und wofür braucht das ein Admin?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atumsplatzhalter 900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6B4728B-49EC-AC4B-92D0-45D4091857E0}" type="datetime1">
              <a:rPr lang="de-DE"/>
              <a:pPr/>
              <a:t>28.10.2026</a:t>
            </a:fld>
            <a:endParaRPr lang="de-DE"/>
          </a:p>
        </p:txBody>
      </p:sp>
      <p:sp>
        <p:nvSpPr>
          <p:cNvPr id="9002" name="Foliennummernplatzhalter 900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3D07-A954-7D45-9CFC-776D35F33DC4}" type="slidenum">
              <a:rPr lang="de-DE"/>
              <a:t>10</a:t>
            </a:fld>
            <a:endParaRPr lang="de-DE"/>
          </a:p>
        </p:txBody>
      </p:sp>
      <p:sp>
        <p:nvSpPr>
          <p:cNvPr id="2" name="Shape 0"/>
          <p:cNvSpPr/>
          <p:nvPr/>
        </p:nvSpPr>
        <p:spPr>
          <a:xfrm>
            <a:off x="670560" y="438912"/>
            <a:ext cx="158496" cy="158496"/>
          </a:xfrm>
          <a:prstGeom prst="rect">
            <a:avLst/>
          </a:prstGeom>
          <a:solidFill>
            <a:srgbClr val="FAE55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901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 II · MINUTE 37–49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0560" y="755904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Pipe: Fließband für Daten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70560" y="2098548"/>
            <a:ext cx="2255520" cy="1152144"/>
          </a:xfrm>
          <a:prstGeom prst="roundRect">
            <a:avLst>
              <a:gd name="adj" fmla="val 7619"/>
            </a:avLst>
          </a:prstGeom>
          <a:solidFill>
            <a:srgbClr val="1E1E1E"/>
          </a:solidFill>
          <a:ln/>
          <a:effectLst>
            <a:outerShdw sx="100000" sy="100000" kx="0" ky="0" algn="bl" rotWithShape="0" blurRad="84667" dist="33867" dir="54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0560" y="2219248"/>
            <a:ext cx="225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33" b="1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70560" y="2702052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7" dirty="0">
                <a:solidFill>
                  <a:srgbClr val="BADC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filtern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2950464" y="2175357"/>
            <a:ext cx="5608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5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3535680" y="2098548"/>
            <a:ext cx="2255520" cy="1152144"/>
          </a:xfrm>
          <a:prstGeom prst="roundRect">
            <a:avLst>
              <a:gd name="adj" fmla="val 7619"/>
            </a:avLst>
          </a:prstGeom>
          <a:solidFill>
            <a:srgbClr val="1E1E1E"/>
          </a:solidFill>
          <a:ln/>
          <a:effectLst>
            <a:outerShdw sx="100000" sy="100000" kx="0" ky="0" algn="bl" rotWithShape="0" blurRad="84667" dist="33867" dir="54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35680" y="2219248"/>
            <a:ext cx="225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33" b="1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</a:t>
            </a:r>
            <a:endParaRPr lang="en-US" sz="2133" dirty="0"/>
          </a:p>
        </p:txBody>
      </p:sp>
      <p:sp>
        <p:nvSpPr>
          <p:cNvPr id="12" name="Text 10"/>
          <p:cNvSpPr/>
          <p:nvPr/>
        </p:nvSpPr>
        <p:spPr>
          <a:xfrm>
            <a:off x="3535680" y="2702052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7" dirty="0">
                <a:solidFill>
                  <a:srgbClr val="BADC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ausschneiden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5815584" y="2175357"/>
            <a:ext cx="5608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5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0" y="2098548"/>
            <a:ext cx="2255520" cy="1152144"/>
          </a:xfrm>
          <a:prstGeom prst="roundRect">
            <a:avLst>
              <a:gd name="adj" fmla="val 7619"/>
            </a:avLst>
          </a:prstGeom>
          <a:solidFill>
            <a:srgbClr val="1E1E1E"/>
          </a:solidFill>
          <a:ln/>
          <a:effectLst>
            <a:outerShdw sx="100000" sy="100000" kx="0" ky="0" algn="bl" rotWithShape="0" blurRad="84667" dist="33867" dir="54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219248"/>
            <a:ext cx="225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33" b="1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endParaRPr lang="en-US" sz="2133" dirty="0"/>
          </a:p>
        </p:txBody>
      </p:sp>
      <p:sp>
        <p:nvSpPr>
          <p:cNvPr id="16" name="Text 14"/>
          <p:cNvSpPr/>
          <p:nvPr/>
        </p:nvSpPr>
        <p:spPr>
          <a:xfrm>
            <a:off x="6400800" y="2702052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7" dirty="0">
                <a:solidFill>
                  <a:srgbClr val="BADC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sortieren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8680704" y="2175357"/>
            <a:ext cx="5608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5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9265920" y="2098548"/>
            <a:ext cx="2255520" cy="1152144"/>
          </a:xfrm>
          <a:prstGeom prst="roundRect">
            <a:avLst>
              <a:gd name="adj" fmla="val 7619"/>
            </a:avLst>
          </a:prstGeom>
          <a:solidFill>
            <a:srgbClr val="1E1E1E"/>
          </a:solidFill>
          <a:ln/>
          <a:effectLst>
            <a:outerShdw sx="100000" sy="100000" kx="0" ky="0" algn="bl" rotWithShape="0" blurRad="84667" dist="33867" dir="54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65920" y="2219248"/>
            <a:ext cx="225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33" b="1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 -c</a:t>
            </a:r>
            <a:endParaRPr lang="en-US" sz="2133" dirty="0"/>
          </a:p>
        </p:txBody>
      </p:sp>
      <p:sp>
        <p:nvSpPr>
          <p:cNvPr id="20" name="Text 18"/>
          <p:cNvSpPr/>
          <p:nvPr/>
        </p:nvSpPr>
        <p:spPr>
          <a:xfrm>
            <a:off x="9265920" y="2702052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7" dirty="0">
                <a:solidFill>
                  <a:srgbClr val="BADC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zählen</a:t>
            </a:r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670560" y="3634740"/>
            <a:ext cx="1085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67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 Zeichen, eine Idee: </a:t>
            </a:r>
            <a:pPr indent="0" marL="0">
              <a:buNone/>
            </a:pPr>
            <a:r>
              <a:rPr lang="en-US" sz="18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Ausgabe des linken Befehls wird zur Eingabe des rechten. Kleine Werkzeuge, die je eine Sache gut können – kombiniert lösen sie fast alles. Das ist die Unix-Philosophie.</a:t>
            </a:r>
            <a:endParaRPr lang="en-US" sz="1867" dirty="0"/>
          </a:p>
        </p:txBody>
      </p:sp>
      <p:sp>
        <p:nvSpPr>
          <p:cNvPr id="22" name="Shape 20"/>
          <p:cNvSpPr/>
          <p:nvPr/>
        </p:nvSpPr>
        <p:spPr>
          <a:xfrm>
            <a:off x="670560" y="4622292"/>
            <a:ext cx="10850880" cy="1097280"/>
          </a:xfrm>
          <a:prstGeom prst="roundRect">
            <a:avLst>
              <a:gd name="adj" fmla="val 7000"/>
            </a:avLst>
          </a:prstGeom>
          <a:solidFill>
            <a:srgbClr val="E4F1FB"/>
          </a:solidFill>
          <a:ln/>
        </p:spPr>
      </p:sp>
      <p:sp>
        <p:nvSpPr>
          <p:cNvPr id="23" name="Text 21"/>
          <p:cNvSpPr/>
          <p:nvPr/>
        </p:nvSpPr>
        <p:spPr>
          <a:xfrm>
            <a:off x="975360" y="476493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Warum das für Ihre Schüler zählt: </a:t>
            </a:r>
            <a:pPr indent="0" marL="0">
              <a:buNone/>
            </a:pPr>
            <a:r>
              <a:rPr lang="en-US" sz="1733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Dasselbe Prinzip steckt in jeder Log-Analyse, jedem Deployment-Skript und jeder Prüfungsaufgabe zur Shell – vom Anfänger-Einzeiler bis zur Profi-Kette skaliert es mit jedem Niveau.</a:t>
            </a:r>
            <a:endParaRPr lang="en-US" sz="173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atumsplatzhalter 900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6B4728B-49EC-AC4B-92D0-45D4091857E0}" type="datetime1">
              <a:rPr lang="de-DE"/>
              <a:pPr/>
              <a:t>28.10.2026</a:t>
            </a:fld>
            <a:endParaRPr lang="de-DE"/>
          </a:p>
        </p:txBody>
      </p:sp>
      <p:sp>
        <p:nvSpPr>
          <p:cNvPr id="9002" name="Foliennummernplatzhalter 900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3D07-A954-7D45-9CFC-776D35F33DC4}" type="slidenum">
              <a:rPr lang="de-DE"/>
              <a:t>11</a:t>
            </a:fld>
            <a:endParaRPr lang="de-DE"/>
          </a:p>
        </p:txBody>
      </p:sp>
      <p:sp>
        <p:nvSpPr>
          <p:cNvPr id="2" name="Shape 0"/>
          <p:cNvSpPr/>
          <p:nvPr/>
        </p:nvSpPr>
        <p:spPr>
          <a:xfrm>
            <a:off x="670560" y="438912"/>
            <a:ext cx="158496" cy="158496"/>
          </a:xfrm>
          <a:prstGeom prst="rect">
            <a:avLst/>
          </a:prstGeom>
          <a:solidFill>
            <a:srgbClr val="FAE55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901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 II · DIE CHALLENGE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0560" y="755904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Der Server-Krimi: Wer greift srv-schule01 an?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70560" y="1879092"/>
            <a:ext cx="10850880" cy="1591056"/>
          </a:xfrm>
          <a:prstGeom prst="roundRect">
            <a:avLst>
              <a:gd name="adj" fmla="val 4138"/>
            </a:avLst>
          </a:prstGeom>
          <a:solidFill>
            <a:srgbClr val="1E1E1E"/>
          </a:solidFill>
          <a:ln/>
          <a:effectLst>
            <a:outerShdw sx="100000" sy="100000" kx="0" ky="0" algn="bl" rotWithShape="0" blurRad="135467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004060"/>
            <a:ext cx="134112" cy="134112"/>
          </a:xfrm>
          <a:prstGeom prst="ellipse">
            <a:avLst/>
          </a:prstGeom>
          <a:solidFill>
            <a:srgbClr val="E9645A"/>
          </a:solidFill>
          <a:ln/>
        </p:spPr>
      </p:sp>
      <p:sp>
        <p:nvSpPr>
          <p:cNvPr id="8" name="Shape 6"/>
          <p:cNvSpPr/>
          <p:nvPr/>
        </p:nvSpPr>
        <p:spPr>
          <a:xfrm>
            <a:off x="1085088" y="2004060"/>
            <a:ext cx="134112" cy="134112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9" name="Shape 7"/>
          <p:cNvSpPr/>
          <p:nvPr/>
        </p:nvSpPr>
        <p:spPr>
          <a:xfrm>
            <a:off x="1328928" y="2004060"/>
            <a:ext cx="134112" cy="134112"/>
          </a:xfrm>
          <a:prstGeom prst="ellipse">
            <a:avLst/>
          </a:prstGeom>
          <a:solidFill>
            <a:srgbClr val="5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890016" y="2252167"/>
            <a:ext cx="10411968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13"/>
              </a:lnSpc>
              <a:buNone/>
            </a:pPr>
            <a:r>
              <a:rPr lang="en-US" sz="1733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/srv/workshop/server.log .</a:t>
            </a:r>
            <a:endParaRPr lang="en-US" sz="1733" dirty="0"/>
          </a:p>
          <a:p>
            <a:pPr algn="l" indent="0" marL="0">
              <a:lnSpc>
                <a:spcPts val="2513"/>
              </a:lnSpc>
              <a:buNone/>
            </a:pPr>
            <a:r>
              <a:rPr lang="en-US" sz="1733" dirty="0">
                <a:solidFill>
                  <a:srgbClr val="FAE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wc -l server.log</a:t>
            </a:r>
            <a:endParaRPr lang="en-US" sz="1733" dirty="0"/>
          </a:p>
          <a:p>
            <a:pPr algn="l" indent="0" marL="0">
              <a:lnSpc>
                <a:spcPts val="2513"/>
              </a:lnSpc>
              <a:buNone/>
            </a:pPr>
            <a:r>
              <a:rPr lang="en-US" sz="1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 server.log</a:t>
            </a:r>
            <a:endParaRPr lang="en-US" sz="1733" dirty="0"/>
          </a:p>
        </p:txBody>
      </p:sp>
      <p:sp>
        <p:nvSpPr>
          <p:cNvPr id="11" name="Shape 9"/>
          <p:cNvSpPr/>
          <p:nvPr/>
        </p:nvSpPr>
        <p:spPr>
          <a:xfrm>
            <a:off x="670560" y="3744468"/>
            <a:ext cx="3474720" cy="2029968"/>
          </a:xfrm>
          <a:prstGeom prst="roundRect">
            <a:avLst>
              <a:gd name="adj" fmla="val 4324"/>
            </a:avLst>
          </a:prstGeom>
          <a:solidFill>
            <a:srgbClr val="E4F1FB"/>
          </a:solidFill>
          <a:ln/>
        </p:spPr>
      </p:sp>
      <p:sp>
        <p:nvSpPr>
          <p:cNvPr id="12" name="Shape 10"/>
          <p:cNvSpPr/>
          <p:nvPr/>
        </p:nvSpPr>
        <p:spPr>
          <a:xfrm>
            <a:off x="938784" y="3955390"/>
            <a:ext cx="609600" cy="609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896" y="4089502"/>
            <a:ext cx="341376" cy="34137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706880" y="4040733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Spurenlage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38784" y="4655210"/>
            <a:ext cx="2987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210 Log-Zeilen, irgendwo darin: ein Brute-Force-Angriff auf SSH.</a:t>
            </a:r>
            <a:endParaRPr lang="en-US" sz="1467" dirty="0"/>
          </a:p>
        </p:txBody>
      </p:sp>
      <p:sp>
        <p:nvSpPr>
          <p:cNvPr id="16" name="Shape 13"/>
          <p:cNvSpPr/>
          <p:nvPr/>
        </p:nvSpPr>
        <p:spPr>
          <a:xfrm>
            <a:off x="4401312" y="3744468"/>
            <a:ext cx="3474720" cy="2029968"/>
          </a:xfrm>
          <a:prstGeom prst="roundRect">
            <a:avLst>
              <a:gd name="adj" fmla="val 4324"/>
            </a:avLst>
          </a:prstGeom>
          <a:solidFill>
            <a:srgbClr val="E4F1FB"/>
          </a:solidFill>
          <a:ln/>
        </p:spPr>
      </p:sp>
      <p:sp>
        <p:nvSpPr>
          <p:cNvPr id="17" name="Shape 14"/>
          <p:cNvSpPr/>
          <p:nvPr/>
        </p:nvSpPr>
        <p:spPr>
          <a:xfrm>
            <a:off x="4669536" y="3955390"/>
            <a:ext cx="609600" cy="609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648" y="4089502"/>
            <a:ext cx="341376" cy="34137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37632" y="4040733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Ermittlung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669536" y="4655210"/>
            <a:ext cx="2987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Aufgaben vom einfachen Zählen bis zur Befehlskette – Arbeitsblatt Teil B.</a:t>
            </a:r>
            <a:endParaRPr lang="en-US" sz="1467" dirty="0"/>
          </a:p>
        </p:txBody>
      </p:sp>
      <p:sp>
        <p:nvSpPr>
          <p:cNvPr id="21" name="Shape 17"/>
          <p:cNvSpPr/>
          <p:nvPr/>
        </p:nvSpPr>
        <p:spPr>
          <a:xfrm>
            <a:off x="8132064" y="3744468"/>
            <a:ext cx="3474720" cy="2029968"/>
          </a:xfrm>
          <a:prstGeom prst="roundRect">
            <a:avLst>
              <a:gd name="adj" fmla="val 4324"/>
            </a:avLst>
          </a:prstGeom>
          <a:solidFill>
            <a:srgbClr val="E4F1FB"/>
          </a:solidFill>
          <a:ln/>
        </p:spPr>
      </p:sp>
      <p:sp>
        <p:nvSpPr>
          <p:cNvPr id="22" name="Shape 18"/>
          <p:cNvSpPr/>
          <p:nvPr/>
        </p:nvSpPr>
        <p:spPr>
          <a:xfrm>
            <a:off x="8400288" y="3955390"/>
            <a:ext cx="609600" cy="609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4089502"/>
            <a:ext cx="341376" cy="34137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68384" y="4040733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Königsdisziplin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400288" y="4655210"/>
            <a:ext cx="2987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Top-Liste der Angreifer-IPs in einer einzigen Zeile. Wer sie hat, ruft „Gefunden!“</a:t>
            </a:r>
            <a:endParaRPr lang="en-US" sz="146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atumsplatzhalter 900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6B4728B-49EC-AC4B-92D0-45D4091857E0}" type="datetime1">
              <a:rPr lang="de-DE"/>
              <a:pPr/>
              <a:t>28.10.2026</a:t>
            </a:fld>
            <a:endParaRPr lang="de-DE"/>
          </a:p>
        </p:txBody>
      </p:sp>
      <p:sp>
        <p:nvSpPr>
          <p:cNvPr id="9002" name="Foliennummernplatzhalter 900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3D07-A954-7D45-9CFC-776D35F33DC4}" type="slidenum">
              <a:rPr lang="de-DE"/>
              <a:t>12</a:t>
            </a:fld>
            <a:endParaRPr lang="de-DE"/>
          </a:p>
        </p:txBody>
      </p:sp>
      <p:sp>
        <p:nvSpPr>
          <p:cNvPr id="2" name="Shape 0"/>
          <p:cNvSpPr/>
          <p:nvPr/>
        </p:nvSpPr>
        <p:spPr>
          <a:xfrm>
            <a:off x="670560" y="438912"/>
            <a:ext cx="158496" cy="158496"/>
          </a:xfrm>
          <a:prstGeom prst="rect">
            <a:avLst/>
          </a:prstGeom>
          <a:solidFill>
            <a:srgbClr val="FAE55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901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TRANSFER · MINUTE 49–55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0560" y="755904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Von hier in Ihren Unterricht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70560" y="1988820"/>
            <a:ext cx="3474720" cy="2743200"/>
          </a:xfrm>
          <a:prstGeom prst="roundRect">
            <a:avLst>
              <a:gd name="adj" fmla="val 3200"/>
            </a:avLst>
          </a:prstGeom>
          <a:solidFill>
            <a:srgbClr val="E4F1FB"/>
          </a:solidFill>
          <a:ln/>
        </p:spPr>
      </p:sp>
      <p:sp>
        <p:nvSpPr>
          <p:cNvPr id="7" name="Shape 5"/>
          <p:cNvSpPr/>
          <p:nvPr/>
        </p:nvSpPr>
        <p:spPr>
          <a:xfrm>
            <a:off x="938784" y="2229003"/>
            <a:ext cx="682752" cy="6827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87499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8784" y="3031236"/>
            <a:ext cx="298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Heute erlebt: der Übungsserver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38784" y="3711549"/>
            <a:ext cx="2987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 Linux im Netz, 40 Konten, SSH – die Setup-Skripte dafür nehmen Sie fertig mit.</a:t>
            </a:r>
            <a:endParaRPr lang="en-US" sz="1467" dirty="0"/>
          </a:p>
        </p:txBody>
      </p:sp>
      <p:sp>
        <p:nvSpPr>
          <p:cNvPr id="11" name="Shape 8"/>
          <p:cNvSpPr/>
          <p:nvPr/>
        </p:nvSpPr>
        <p:spPr>
          <a:xfrm>
            <a:off x="4401312" y="1988820"/>
            <a:ext cx="3474720" cy="2743200"/>
          </a:xfrm>
          <a:prstGeom prst="roundRect">
            <a:avLst>
              <a:gd name="adj" fmla="val 3200"/>
            </a:avLst>
          </a:prstGeom>
          <a:solidFill>
            <a:srgbClr val="E4F1FB"/>
          </a:solidFill>
          <a:ln/>
        </p:spPr>
      </p:sp>
      <p:sp>
        <p:nvSpPr>
          <p:cNvPr id="12" name="Shape 9"/>
          <p:cNvSpPr/>
          <p:nvPr/>
        </p:nvSpPr>
        <p:spPr>
          <a:xfrm>
            <a:off x="4669536" y="2229003"/>
            <a:ext cx="682752" cy="6827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387499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9536" y="3031236"/>
            <a:ext cx="298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Morgen im Raum: WSL2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69536" y="3711549"/>
            <a:ext cx="2987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Klassen-Image importieren, fertig. Persistente Umgebung für ganze Lernsituationen.</a:t>
            </a:r>
            <a:endParaRPr lang="en-US" sz="1467" dirty="0"/>
          </a:p>
        </p:txBody>
      </p:sp>
      <p:sp>
        <p:nvSpPr>
          <p:cNvPr id="16" name="Shape 12"/>
          <p:cNvSpPr/>
          <p:nvPr/>
        </p:nvSpPr>
        <p:spPr>
          <a:xfrm>
            <a:off x="8132064" y="1988820"/>
            <a:ext cx="3474720" cy="2743200"/>
          </a:xfrm>
          <a:prstGeom prst="roundRect">
            <a:avLst>
              <a:gd name="adj" fmla="val 3200"/>
            </a:avLst>
          </a:prstGeom>
          <a:solidFill>
            <a:srgbClr val="E4F1FB"/>
          </a:solidFill>
          <a:ln/>
        </p:spPr>
      </p:sp>
      <p:sp>
        <p:nvSpPr>
          <p:cNvPr id="17" name="Shape 13"/>
          <p:cNvSpPr/>
          <p:nvPr/>
        </p:nvSpPr>
        <p:spPr>
          <a:xfrm>
            <a:off x="8400288" y="2229003"/>
            <a:ext cx="682752" cy="6827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387499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00288" y="3031236"/>
            <a:ext cx="298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Material liegt bereit: LPI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400288" y="3711549"/>
            <a:ext cx="2987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LPIC-1-Lernmaterialien: deutsch, kostenlos, mit Übungen samt Lösungen zu jeder Lektion.</a:t>
            </a:r>
            <a:endParaRPr lang="en-US" sz="1467" dirty="0"/>
          </a:p>
        </p:txBody>
      </p:sp>
      <p:sp>
        <p:nvSpPr>
          <p:cNvPr id="21" name="Text 16"/>
          <p:cNvSpPr/>
          <p:nvPr/>
        </p:nvSpPr>
        <p:spPr>
          <a:xfrm>
            <a:off x="670560" y="5061204"/>
            <a:ext cx="979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67" b="1" dirty="0">
                <a:solidFill>
                  <a:srgbClr val="1450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Murmelrunde (2 Min.): </a:t>
            </a:r>
            <a:pPr indent="0" marL="0">
              <a:buNone/>
            </a:pPr>
            <a:r>
              <a:rPr lang="en-US" sz="1867" dirty="0">
                <a:solidFill>
                  <a:srgbClr val="1E1E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 passt das in Ihren Bildungsgang – welches Lernfeld, welche Klasse, welche Woche? Besprechen Sie es mit Ihrem Sitznachbarn.</a:t>
            </a:r>
            <a:endParaRPr lang="en-US" sz="186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5344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0560" y="1828800"/>
            <a:ext cx="108508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6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Nehmen Sie drei Dinge mit</a:t>
            </a:r>
            <a:endParaRPr lang="en-US" sz="4267" dirty="0"/>
          </a:p>
        </p:txBody>
      </p:sp>
      <p:sp>
        <p:nvSpPr>
          <p:cNvPr id="5" name="Text 2"/>
          <p:cNvSpPr/>
          <p:nvPr/>
        </p:nvSpPr>
        <p:spPr>
          <a:xfrm>
            <a:off x="755904" y="30480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67" b="1" dirty="0">
                <a:solidFill>
                  <a:srgbClr val="FAE5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3467" dirty="0"/>
          </a:p>
        </p:txBody>
      </p:sp>
      <p:sp>
        <p:nvSpPr>
          <p:cNvPr id="6" name="Text 3"/>
          <p:cNvSpPr/>
          <p:nvPr/>
        </p:nvSpPr>
        <p:spPr>
          <a:xfrm>
            <a:off x="1584960" y="31089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 Handout  –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WSL2-Installation, Klassen-Image-Rezept, Stolperstellen, alle Links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55904" y="4047744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67" b="1" dirty="0">
                <a:solidFill>
                  <a:srgbClr val="FAE5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3467" dirty="0"/>
          </a:p>
        </p:txBody>
      </p:sp>
      <p:sp>
        <p:nvSpPr>
          <p:cNvPr id="8" name="Text 5"/>
          <p:cNvSpPr/>
          <p:nvPr/>
        </p:nvSpPr>
        <p:spPr>
          <a:xfrm>
            <a:off x="1584960" y="4108704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Übungen  –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Arbeitsblatt, server.log und Lösungen – direkt einsetzbar, frei anpassbar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55904" y="5047488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67" b="1" dirty="0">
                <a:solidFill>
                  <a:srgbClr val="FAE5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3467" dirty="0"/>
          </a:p>
        </p:txBody>
      </p:sp>
      <p:sp>
        <p:nvSpPr>
          <p:cNvPr id="10" name="Text 7"/>
          <p:cNvSpPr/>
          <p:nvPr/>
        </p:nvSpPr>
        <p:spPr>
          <a:xfrm>
            <a:off x="1584960" y="5108448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Einen Vorsatz  –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Exit-Ticket: Welche eine Sache probieren Sie nächste Woche aus?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70560" y="6156960"/>
            <a:ext cx="1085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E5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learning.lpi.org/de  ·  learn.microsoft.com/de-de/windows/wsl  ·  Material: &lt;Link/QR&gt;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MMBBS CI Farben 2025">
      <a:dk1>
        <a:srgbClr val="1E1E1E"/>
      </a:dk1>
      <a:lt1>
        <a:srgbClr val="FFFFFF"/>
      </a:lt1>
      <a:dk2>
        <a:srgbClr val="1E1E1E"/>
      </a:dk2>
      <a:lt2>
        <a:srgbClr val="FFFFFF"/>
      </a:lt2>
      <a:accent1>
        <a:srgbClr val="FAE55F"/>
      </a:accent1>
      <a:accent2>
        <a:srgbClr val="954161"/>
      </a:accent2>
      <a:accent3>
        <a:srgbClr val="B35779"/>
      </a:accent3>
      <a:accent4>
        <a:srgbClr val="14508D"/>
      </a:accent4>
      <a:accent5>
        <a:srgbClr val="1F87C9"/>
      </a:accent5>
      <a:accent6>
        <a:srgbClr val="BADCF6"/>
      </a:accent6>
      <a:hlink>
        <a:srgbClr val="BADCF6"/>
      </a:hlink>
      <a:folHlink>
        <a:srgbClr val="1F87C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BBS_PPT_Vorlage_092025_2" id="{13A2E612-8D9A-4D7A-B894-4A76A57E1391}" vid="{3BF8BFD0-A21D-49C5-8A8D-9EE9D94DFE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unterrichten mit WSL2</dc:title>
  <dc:subject>PptxGenJS Presentation</dc:subject>
  <dc:creator>Workshop Regionaler Akademietag</dc:creator>
  <cp:lastModifiedBy>Workshop Regionaler Akademietag</cp:lastModifiedBy>
  <cp:revision>1</cp:revision>
  <dcterms:created xsi:type="dcterms:W3CDTF">2026-07-02T12:19:02Z</dcterms:created>
  <dcterms:modified xsi:type="dcterms:W3CDTF">2026-07-02T12:19:02Z</dcterms:modified>
</cp:coreProperties>
</file>